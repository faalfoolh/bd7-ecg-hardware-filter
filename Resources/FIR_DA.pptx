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3659" r:id="rId2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339" r:id="rId5"/>
    <p:sldId id="379" r:id="rId6"/>
    <p:sldId id="340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</p:sldIdLst>
  <p:sldSz cx="9906000" cy="6858000" type="A4"/>
  <p:notesSz cx="7099300" cy="10234613"/>
  <p:custDataLst>
    <p:tags r:id="rId18"/>
  </p:custData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009999"/>
    <a:srgbClr val="FF3300"/>
    <a:srgbClr val="FF6633"/>
    <a:srgbClr val="F8F8F8"/>
    <a:srgbClr val="FFFF99"/>
    <a:srgbClr val="FFFF0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7" autoAdjust="0"/>
    <p:restoredTop sz="92667" autoAdjust="0"/>
  </p:normalViewPr>
  <p:slideViewPr>
    <p:cSldViewPr>
      <p:cViewPr varScale="1">
        <p:scale>
          <a:sx n="106" d="100"/>
          <a:sy n="106" d="100"/>
        </p:scale>
        <p:origin x="1722" y="96"/>
      </p:cViewPr>
      <p:guideLst>
        <p:guide orient="horz" pos="2160"/>
        <p:guide pos="312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17" tIns="47408" rIns="94817" bIns="47408" numCol="1" anchor="t" anchorCtr="0" compatLnSpc="1">
            <a:prstTxWarp prst="textNoShape">
              <a:avLst/>
            </a:prstTxWarp>
          </a:bodyPr>
          <a:lstStyle>
            <a:lvl1pPr algn="l" defTabSz="947738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17" tIns="47408" rIns="94817" bIns="47408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5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17" tIns="47408" rIns="94817" bIns="47408" numCol="1" anchor="b" anchorCtr="0" compatLnSpc="1">
            <a:prstTxWarp prst="textNoShape">
              <a:avLst/>
            </a:prstTxWarp>
          </a:bodyPr>
          <a:lstStyle>
            <a:lvl1pPr algn="l" defTabSz="947738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17" tIns="47408" rIns="94817" bIns="47408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fld id="{E482AC81-0FF4-4AAD-BD84-5E861FE33D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2968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17" tIns="47408" rIns="94817" bIns="47408" numCol="1" anchor="t" anchorCtr="0" compatLnSpc="1">
            <a:prstTxWarp prst="textNoShape">
              <a:avLst/>
            </a:prstTxWarp>
          </a:bodyPr>
          <a:lstStyle>
            <a:lvl1pPr algn="l" defTabSz="947738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17" tIns="47408" rIns="94817" bIns="47408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9463" y="768350"/>
            <a:ext cx="554196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17" tIns="47408" rIns="94817" bIns="474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29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17" tIns="47408" rIns="94817" bIns="47408" numCol="1" anchor="b" anchorCtr="0" compatLnSpc="1">
            <a:prstTxWarp prst="textNoShape">
              <a:avLst/>
            </a:prstTxWarp>
          </a:bodyPr>
          <a:lstStyle>
            <a:lvl1pPr algn="l" defTabSz="947738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29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17" tIns="47408" rIns="94817" bIns="47408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fld id="{EECC5202-308A-4777-8B6B-9F8FC6F36F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6274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9B00C52-6686-401C-83E2-CACBF4DBB705}" type="slidenum">
              <a:rPr lang="en-GB" sz="1200" smtClean="0"/>
              <a:pPr/>
              <a:t>1</a:t>
            </a:fld>
            <a:endParaRPr lang="en-GB" sz="1200"/>
          </a:p>
        </p:txBody>
      </p:sp>
      <p:sp>
        <p:nvSpPr>
          <p:cNvPr id="2560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3B096B6-19C9-4C1A-BBAD-EC5D09F3C042}" type="slidenum">
              <a:rPr lang="en-GB" sz="1200" smtClean="0"/>
              <a:pPr/>
              <a:t>2</a:t>
            </a:fld>
            <a:endParaRPr lang="en-GB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3B096B6-19C9-4C1A-BBAD-EC5D09F3C042}" type="slidenum">
              <a:rPr lang="en-GB" sz="1200" smtClean="0"/>
              <a:pPr/>
              <a:t>3</a:t>
            </a:fld>
            <a:endParaRPr lang="en-GB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3B096B6-19C9-4C1A-BBAD-EC5D09F3C042}" type="slidenum">
              <a:rPr lang="en-GB" sz="1200" smtClean="0"/>
              <a:pPr/>
              <a:t>4</a:t>
            </a:fld>
            <a:endParaRPr lang="en-GB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474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3B096B6-19C9-4C1A-BBAD-EC5D09F3C042}" type="slidenum">
              <a:rPr lang="en-GB" sz="1200" smtClean="0"/>
              <a:pPr/>
              <a:t>5</a:t>
            </a:fld>
            <a:endParaRPr lang="en-GB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3B096B6-19C9-4C1A-BBAD-EC5D09F3C042}" type="slidenum">
              <a:rPr lang="en-GB" sz="1200" smtClean="0"/>
              <a:pPr/>
              <a:t>6</a:t>
            </a:fld>
            <a:endParaRPr lang="en-GB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826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3B096B6-19C9-4C1A-BBAD-EC5D09F3C042}" type="slidenum">
              <a:rPr lang="en-GB" sz="1200" smtClean="0"/>
              <a:pPr/>
              <a:t>7</a:t>
            </a:fld>
            <a:endParaRPr lang="en-GB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319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3B096B6-19C9-4C1A-BBAD-EC5D09F3C042}" type="slidenum">
              <a:rPr lang="en-GB" sz="1200" smtClean="0"/>
              <a:pPr/>
              <a:t>8</a:t>
            </a:fld>
            <a:endParaRPr lang="en-GB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843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3B096B6-19C9-4C1A-BBAD-EC5D09F3C042}" type="slidenum">
              <a:rPr lang="en-GB" sz="1200" smtClean="0"/>
              <a:pPr/>
              <a:t>9</a:t>
            </a:fld>
            <a:endParaRPr lang="en-GB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118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3B096B6-19C9-4C1A-BBAD-EC5D09F3C042}" type="slidenum">
              <a:rPr lang="en-GB" sz="1200" smtClean="0"/>
              <a:pPr/>
              <a:t>10</a:t>
            </a:fld>
            <a:endParaRPr lang="en-GB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550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3B096B6-19C9-4C1A-BBAD-EC5D09F3C042}" type="slidenum">
              <a:rPr lang="en-GB" sz="1200" smtClean="0"/>
              <a:pPr/>
              <a:t>11</a:t>
            </a:fld>
            <a:endParaRPr lang="en-GB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537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3B096B6-19C9-4C1A-BBAD-EC5D09F3C042}" type="slidenum">
              <a:rPr lang="en-GB" sz="1200" smtClean="0"/>
              <a:pPr/>
              <a:t>12</a:t>
            </a:fld>
            <a:endParaRPr lang="en-GB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456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477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947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3B096B6-19C9-4C1A-BBAD-EC5D09F3C042}" type="slidenum">
              <a:rPr lang="en-GB" sz="1200" smtClean="0"/>
              <a:pPr/>
              <a:t>13</a:t>
            </a:fld>
            <a:endParaRPr lang="en-GB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128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3FF70-C90D-4A95-99D2-F535861B9E9E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75B7FF-30E7-4669-A222-761C3BACC0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9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32BF8-5355-4B15-AED5-6B5AC269858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F210A9-406F-4BC7-A281-88ACE4842B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74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5B7321-AE73-41B6-AC09-D7188B29BF72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FD287E-E620-4CCE-970B-8FF9CF3EE8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84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988" y="1725613"/>
            <a:ext cx="4422775" cy="4264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0163" y="1725613"/>
            <a:ext cx="4424362" cy="4264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EB27E-892E-44A6-AB22-1D098746239B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54D952-231A-49E3-B52E-F9FCA57E02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779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0F337-2FDD-49D7-8650-0C20A643E144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284B9-7B40-4B34-88E8-C509E53F43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931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D9B61-6890-46D3-86D4-1118159C2C35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35265-9FAA-4286-8549-9D6D407855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657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2D4BCF-F80F-46E1-8C0F-BFA38BB1D068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FD694-ABF2-430F-B161-AA3019D36A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625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E512AF-792F-467E-9B67-FA12A92CA9C5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C5494E-A1D0-4AA6-81A5-8A5BF09DF7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210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3CF859-96F0-4A3D-A3B8-2A602037C15A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EC2A43-52F4-42C4-9F63-1A7D476C12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5DCA47-B769-4378-AD16-1BFDEDDD094E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5C949-C6F1-48E6-B5DE-6062E54165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293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46938" y="990600"/>
            <a:ext cx="2287587" cy="49990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2588" y="990600"/>
            <a:ext cx="6711950" cy="4999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518A1-5F01-4D47-A546-B3B5AFDD44DF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D63F9-C94E-40AF-8C3E-F2B40CEFF7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906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20BFFB-4080-4C2B-BFFE-1D5D70EEC67F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C6432-01A0-47F7-AAE1-333181BD9F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819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9407A4-4CA7-42F4-B310-9230EC46A3D8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4058B8-E519-4E28-888C-52D6AB7262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3519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176E8-C835-4A5D-A00D-D3B9855A4F59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00090-04C5-4213-BB14-69BDB97601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3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725613"/>
            <a:ext cx="4424363" cy="4264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0163" y="1725613"/>
            <a:ext cx="4424362" cy="4264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9916B-63CB-4457-9052-9992D074A44E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B6EF55-C43D-48C7-8C96-514B06D8CA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782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DB44F-CE54-46CE-93E0-966AD63D0AC3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28606-ADB3-4F12-B7DC-38E02DC596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595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25614-8DB0-45C6-B0F5-A7BFE332ABFC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ACA85-A8F0-4ED2-AB11-B5BF8B1FC8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633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82957-5614-467D-9A0E-AE5689A577DE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1672E-DDB7-47F5-84C1-BD3C5BEEEC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7366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BCD6E-3C05-4C3A-B8A5-DA86A7B9F37A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7BE4E-38AF-480B-9048-0C16F94ED1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773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34624-9711-489D-AB21-023F976ADC5F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0ECB-F064-46A6-8B50-31C6BB7D9F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5792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E6ECAC-E9ED-47AE-9E1C-49EFF6B3E075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9DD94C-8875-46FC-B986-FBC78D8A1A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115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46938" y="990600"/>
            <a:ext cx="2287587" cy="49990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2588" y="990600"/>
            <a:ext cx="6711950" cy="4999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57BD1-F4C8-4D40-99D1-0E4C83F3130D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732B4-30CF-4CC8-A6A1-090F0A6266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128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vmlDrawing" Target="../drawings/vmlDrawing2.v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4338" y="333375"/>
            <a:ext cx="9374187" cy="61626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1429" tIns="45715" rIns="91429" bIns="45715" anchor="ctr"/>
          <a:lstStyle/>
          <a:p>
            <a:endParaRPr lang="en-GB" sz="3200">
              <a:latin typeface="Arial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434975" y="355600"/>
            <a:ext cx="2659063" cy="613092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691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4988" y="1725613"/>
            <a:ext cx="8999537" cy="426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691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2588" y="990600"/>
            <a:ext cx="7618412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6691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0838" y="6537325"/>
            <a:ext cx="1935162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>
            <a:lvl1pPr algn="l">
              <a:defRPr sz="900" b="1">
                <a:latin typeface="+mn-lt"/>
              </a:defRPr>
            </a:lvl1pPr>
          </a:lstStyle>
          <a:p>
            <a:pPr>
              <a:defRPr/>
            </a:pPr>
            <a:fld id="{9DCB80E3-DD5A-4DF2-9A71-631A26B505FD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16691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16188" y="6537325"/>
            <a:ext cx="5332412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>
            <a:lvl1pPr>
              <a:defRPr sz="900" b="1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692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750" y="6537325"/>
            <a:ext cx="1797050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>
            <a:lvl1pPr algn="r">
              <a:defRPr sz="900" b="1">
                <a:latin typeface="+mn-lt"/>
              </a:defRPr>
            </a:lvl1pPr>
          </a:lstStyle>
          <a:p>
            <a:pPr>
              <a:defRPr/>
            </a:pPr>
            <a:fld id="{784E8E37-E817-4F61-9F85-75938F2616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55613" y="381000"/>
            <a:ext cx="5094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defRPr/>
            </a:pPr>
            <a:r>
              <a:rPr lang="en-GB" b="1" i="1">
                <a:solidFill>
                  <a:schemeClr val="accent2"/>
                </a:solidFill>
                <a:latin typeface="Arial" charset="0"/>
              </a:rPr>
              <a:t>Electronic Systems Design Group</a:t>
            </a:r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534988" y="838200"/>
            <a:ext cx="7466012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>
            <a:off x="8001000" y="381000"/>
            <a:ext cx="0" cy="990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>
            <a:off x="8001000" y="1371600"/>
            <a:ext cx="16002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1037" name="Object 13"/>
          <p:cNvGraphicFramePr>
            <a:graphicFrameLocks noChangeAspect="1"/>
          </p:cNvGraphicFramePr>
          <p:nvPr/>
        </p:nvGraphicFramePr>
        <p:xfrm>
          <a:off x="8140700" y="465138"/>
          <a:ext cx="13335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" name="CorelDRAW" r:id="rId14" imgW="914400" imgH="914400" progId="CorelDRAW.Graphic.9">
                  <p:embed/>
                </p:oleObj>
              </mc:Choice>
              <mc:Fallback>
                <p:oleObj name="CorelDRAW" r:id="rId14" imgW="914400" imgH="914400" progId="CorelDRAW.Graphic.9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0700" y="465138"/>
                        <a:ext cx="133350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" name="Object 14"/>
          <p:cNvGraphicFramePr>
            <a:graphicFrameLocks noChangeAspect="1"/>
          </p:cNvGraphicFramePr>
          <p:nvPr/>
        </p:nvGraphicFramePr>
        <p:xfrm>
          <a:off x="9405938" y="6051550"/>
          <a:ext cx="2667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" name="CorelDRAW" r:id="rId16" imgW="2400314" imgH="3038372" progId="CorelDRAW.Graphic.10">
                  <p:embed/>
                </p:oleObj>
              </mc:Choice>
              <mc:Fallback>
                <p:oleObj name="CorelDRAW" r:id="rId16" imgW="2400314" imgH="3038372" progId="CorelDRAW.Graphic.10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5938" y="6051550"/>
                        <a:ext cx="2667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6127750" y="6083300"/>
            <a:ext cx="32400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GB" sz="1400" b="1">
                <a:solidFill>
                  <a:srgbClr val="0000FF"/>
                </a:solidFill>
                <a:latin typeface="Univers" pitchFamily="34" charset="0"/>
              </a:rPr>
              <a:t>University of Southampton, UK</a:t>
            </a:r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auto">
          <a:xfrm>
            <a:off x="412750" y="5983288"/>
            <a:ext cx="25082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defRPr/>
            </a:pPr>
            <a:r>
              <a:rPr lang="en-GB" sz="1400" b="1">
                <a:solidFill>
                  <a:srgbClr val="0000FF"/>
                </a:solidFill>
                <a:latin typeface="Univers" pitchFamily="34" charset="0"/>
              </a:rPr>
              <a:t>School of Electronics </a:t>
            </a:r>
          </a:p>
          <a:p>
            <a:pPr algn="l">
              <a:defRPr/>
            </a:pPr>
            <a:r>
              <a:rPr lang="en-GB" sz="1400" b="1">
                <a:solidFill>
                  <a:srgbClr val="0000FF"/>
                </a:solidFill>
                <a:latin typeface="Univers" pitchFamily="34" charset="0"/>
              </a:rPr>
              <a:t>and Computer Science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175" indent="11113" algn="l" rtl="0" eaLnBrk="0" fontAlgn="base" hangingPunct="0">
        <a:spcBef>
          <a:spcPct val="20000"/>
        </a:spcBef>
        <a:spcAft>
          <a:spcPct val="0"/>
        </a:spcAft>
        <a:defRPr sz="2400" b="1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19138" indent="-188913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</a:defRPr>
      </a:lvl2pPr>
      <a:lvl3pPr marL="1230313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383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15925" y="333375"/>
            <a:ext cx="9372600" cy="61626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1429" tIns="45715" rIns="91429" bIns="45715" anchor="ctr"/>
          <a:lstStyle/>
          <a:p>
            <a:endParaRPr lang="en-GB" sz="3200">
              <a:latin typeface="Arial" pitchFamily="34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34975" y="355600"/>
            <a:ext cx="1204913" cy="613092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725613"/>
            <a:ext cx="9001125" cy="426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2588" y="990600"/>
            <a:ext cx="7618412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7203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0838" y="6537325"/>
            <a:ext cx="1935162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>
            <a:lvl1pPr algn="l">
              <a:defRPr sz="900" b="1">
                <a:latin typeface="+mn-lt"/>
              </a:defRPr>
            </a:lvl1pPr>
          </a:lstStyle>
          <a:p>
            <a:pPr>
              <a:defRPr/>
            </a:pPr>
            <a:fld id="{8788696C-9A6B-42BB-A403-92BBF73891F4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17203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14600" y="6537325"/>
            <a:ext cx="5335588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>
            <a:lvl1pPr>
              <a:defRPr sz="900" b="1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204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750" y="6537325"/>
            <a:ext cx="1797050" cy="23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>
            <a:lvl1pPr algn="r">
              <a:defRPr sz="900" b="1">
                <a:latin typeface="+mn-lt"/>
              </a:defRPr>
            </a:lvl1pPr>
          </a:lstStyle>
          <a:p>
            <a:pPr>
              <a:defRPr/>
            </a:pPr>
            <a:fld id="{A4151773-A35D-4CE0-8BC5-16D995385E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509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defRPr/>
            </a:pPr>
            <a:r>
              <a:rPr lang="en-GB" b="1" i="1">
                <a:solidFill>
                  <a:schemeClr val="accent2"/>
                </a:solidFill>
                <a:latin typeface="Arial" charset="0"/>
              </a:rPr>
              <a:t>Electronic Systems Design Group</a:t>
            </a:r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533400" y="838200"/>
            <a:ext cx="74676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59" name="Line 11"/>
          <p:cNvSpPr>
            <a:spLocks noChangeShapeType="1"/>
          </p:cNvSpPr>
          <p:nvPr/>
        </p:nvSpPr>
        <p:spPr bwMode="auto">
          <a:xfrm>
            <a:off x="8001000" y="381000"/>
            <a:ext cx="0" cy="990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60" name="Line 12"/>
          <p:cNvSpPr>
            <a:spLocks noChangeShapeType="1"/>
          </p:cNvSpPr>
          <p:nvPr/>
        </p:nvSpPr>
        <p:spPr bwMode="auto">
          <a:xfrm>
            <a:off x="8001000" y="1371600"/>
            <a:ext cx="16002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aphicFrame>
        <p:nvGraphicFramePr>
          <p:cNvPr id="2061" name="Object 13"/>
          <p:cNvGraphicFramePr>
            <a:graphicFrameLocks noChangeAspect="1"/>
          </p:cNvGraphicFramePr>
          <p:nvPr/>
        </p:nvGraphicFramePr>
        <p:xfrm>
          <a:off x="8140700" y="465138"/>
          <a:ext cx="13335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" name="CorelDRAW" r:id="rId14" imgW="914400" imgH="914400" progId="CorelDRAW.Graphic.9">
                  <p:embed/>
                </p:oleObj>
              </mc:Choice>
              <mc:Fallback>
                <p:oleObj name="CorelDRAW" r:id="rId14" imgW="914400" imgH="914400" progId="CorelDRAW.Graphic.9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0700" y="465138"/>
                        <a:ext cx="133350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2" name="Object 14"/>
          <p:cNvGraphicFramePr>
            <a:graphicFrameLocks noChangeAspect="1"/>
          </p:cNvGraphicFramePr>
          <p:nvPr/>
        </p:nvGraphicFramePr>
        <p:xfrm>
          <a:off x="9405938" y="6051550"/>
          <a:ext cx="265112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0" name="CorelDRAW" r:id="rId16" imgW="2400314" imgH="3038372" progId="CorelDRAW.Graphic.10">
                  <p:embed/>
                </p:oleObj>
              </mc:Choice>
              <mc:Fallback>
                <p:oleObj name="CorelDRAW" r:id="rId16" imgW="2400314" imgH="3038372" progId="CorelDRAW.Graphic.10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5938" y="6051550"/>
                        <a:ext cx="265112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6126163" y="6083300"/>
            <a:ext cx="32400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GB" sz="1400" b="1">
                <a:solidFill>
                  <a:srgbClr val="0000FF"/>
                </a:solidFill>
                <a:latin typeface="Univers" pitchFamily="34" charset="0"/>
              </a:rPr>
              <a:t>University of Southampton, UK</a:t>
            </a: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12750" y="5983288"/>
            <a:ext cx="250825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defRPr/>
            </a:pPr>
            <a:r>
              <a:rPr lang="en-GB" sz="1400" b="1">
                <a:solidFill>
                  <a:srgbClr val="0000FF"/>
                </a:solidFill>
                <a:latin typeface="Univers" pitchFamily="34" charset="0"/>
              </a:rPr>
              <a:t>School of Electronics </a:t>
            </a:r>
          </a:p>
          <a:p>
            <a:pPr algn="l">
              <a:defRPr/>
            </a:pPr>
            <a:r>
              <a:rPr lang="en-GB" sz="1400" b="1">
                <a:solidFill>
                  <a:srgbClr val="0000FF"/>
                </a:solidFill>
                <a:latin typeface="Univers" pitchFamily="34" charset="0"/>
              </a:rPr>
              <a:t>and Computer Science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175" indent="11113" algn="l" rtl="0" eaLnBrk="0" fontAlgn="base" hangingPunct="0">
        <a:spcBef>
          <a:spcPct val="20000"/>
        </a:spcBef>
        <a:spcAft>
          <a:spcPct val="0"/>
        </a:spcAft>
        <a:defRPr sz="2400" b="1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19138" indent="-188913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</a:defRPr>
      </a:lvl2pPr>
      <a:lvl3pPr marL="1230313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383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F8B38D-0515-48FA-AE09-FD7B50892131}" type="slidenum">
              <a:rPr lang="en-GB"/>
              <a:pPr>
                <a:defRPr/>
              </a:pPr>
              <a:t>1</a:t>
            </a:fld>
            <a:endParaRPr lang="en-GB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FIR filter and Distributed Arithmetic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indent="14288">
              <a:defRPr/>
            </a:pPr>
            <a:r>
              <a:rPr lang="en-GB"/>
              <a:t>Dr Koushik Maharatna</a:t>
            </a:r>
          </a:p>
          <a:p>
            <a:pPr indent="14288">
              <a:defRPr/>
            </a:pPr>
            <a:r>
              <a:rPr lang="en-GB"/>
              <a:t>University of Southampton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A9A09-7E24-48D3-806C-40EA1D18E6E9}" type="slidenum">
              <a:rPr lang="en-GB"/>
              <a:pPr>
                <a:defRPr/>
              </a:pPr>
              <a:t>2</a:t>
            </a:fld>
            <a:endParaRPr lang="en-GB"/>
          </a:p>
        </p:txBody>
      </p:sp>
      <p:sp>
        <p:nvSpPr>
          <p:cNvPr id="97365" name="Rectangle 85"/>
          <p:cNvSpPr>
            <a:spLocks noGrp="1" noChangeArrowheads="1"/>
          </p:cNvSpPr>
          <p:nvPr>
            <p:ph type="title"/>
          </p:nvPr>
        </p:nvSpPr>
        <p:spPr>
          <a:xfrm>
            <a:off x="439738" y="642938"/>
            <a:ext cx="7467600" cy="914400"/>
          </a:xfrm>
        </p:spPr>
        <p:txBody>
          <a:bodyPr lIns="91440" tIns="45720" rIns="91440" bIns="45720"/>
          <a:lstStyle/>
          <a:p>
            <a:pPr>
              <a:defRPr/>
            </a:pPr>
            <a:r>
              <a:rPr lang="en-GB" dirty="0"/>
              <a:t>Multiply-Accumulate is a common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32520" y="1412776"/>
                <a:ext cx="9073008" cy="44759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spcAft>
                    <a:spcPts val="600"/>
                  </a:spcAft>
                  <a:buFont typeface="Arial" pitchFamily="34" charset="0"/>
                  <a:buChar char="•"/>
                  <a:defRPr/>
                </a:pPr>
                <a:r>
                  <a:rPr lang="en-GB" sz="2200" dirty="0">
                    <a:latin typeface="+mn-lt"/>
                  </a:rPr>
                  <a:t>The generalised form of MAC operation is</a:t>
                </a:r>
              </a:p>
              <a:p>
                <a:pPr algn="l"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2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GB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200" dirty="0">
                  <a:latin typeface="+mn-lt"/>
                </a:endParaRPr>
              </a:p>
              <a:p>
                <a:pPr algn="l">
                  <a:spcAft>
                    <a:spcPts val="600"/>
                  </a:spcAft>
                  <a:defRPr/>
                </a:pPr>
                <a:r>
                  <a:rPr lang="en-GB" sz="2200" dirty="0">
                    <a:latin typeface="+mn-lt"/>
                  </a:rPr>
                  <a:t>Where, </a:t>
                </a:r>
                <a:r>
                  <a:rPr lang="en-GB" sz="2200" dirty="0" err="1">
                    <a:latin typeface="+mn-lt"/>
                  </a:rPr>
                  <a:t>x</a:t>
                </a:r>
                <a:r>
                  <a:rPr lang="en-GB" sz="2200" baseline="-25000" dirty="0" err="1">
                    <a:latin typeface="+mn-lt"/>
                  </a:rPr>
                  <a:t>k</a:t>
                </a:r>
                <a:r>
                  <a:rPr lang="en-GB" sz="2200" dirty="0">
                    <a:latin typeface="+mn-lt"/>
                  </a:rPr>
                  <a:t> is the incoming data at k</a:t>
                </a:r>
                <a:r>
                  <a:rPr lang="en-GB" sz="2200" baseline="30000" dirty="0">
                    <a:latin typeface="+mn-lt"/>
                  </a:rPr>
                  <a:t>th</a:t>
                </a:r>
                <a:r>
                  <a:rPr lang="en-GB" sz="2200" dirty="0">
                    <a:latin typeface="+mn-lt"/>
                  </a:rPr>
                  <a:t> time instant, </a:t>
                </a:r>
                <a:r>
                  <a:rPr lang="en-GB" sz="2200" dirty="0" err="1">
                    <a:latin typeface="+mn-lt"/>
                  </a:rPr>
                  <a:t>y</a:t>
                </a:r>
                <a:r>
                  <a:rPr lang="en-GB" sz="2200" baseline="-25000" dirty="0" err="1">
                    <a:latin typeface="+mn-lt"/>
                  </a:rPr>
                  <a:t>k</a:t>
                </a:r>
                <a:r>
                  <a:rPr lang="en-GB" sz="2200" dirty="0">
                    <a:latin typeface="+mn-lt"/>
                  </a:rPr>
                  <a:t> is the output, </a:t>
                </a:r>
                <a:r>
                  <a:rPr lang="en-GB" sz="2200" dirty="0" err="1">
                    <a:latin typeface="+mn-lt"/>
                  </a:rPr>
                  <a:t>h</a:t>
                </a:r>
                <a:r>
                  <a:rPr lang="en-GB" sz="2200" baseline="-25000" dirty="0" err="1">
                    <a:latin typeface="+mn-lt"/>
                  </a:rPr>
                  <a:t>k</a:t>
                </a:r>
                <a:r>
                  <a:rPr lang="en-GB" sz="2200" dirty="0">
                    <a:latin typeface="+mn-lt"/>
                  </a:rPr>
                  <a:t> are certain fixed values </a:t>
                </a:r>
              </a:p>
              <a:p>
                <a:pPr marL="342900" indent="-342900" algn="l">
                  <a:spcAft>
                    <a:spcPts val="600"/>
                  </a:spcAft>
                  <a:buFont typeface="Arial" pitchFamily="34" charset="0"/>
                  <a:buChar char="•"/>
                  <a:defRPr/>
                </a:pPr>
                <a:r>
                  <a:rPr lang="en-GB" sz="2200" dirty="0">
                    <a:latin typeface="+mn-lt"/>
                  </a:rPr>
                  <a:t>Occurs every now and then in signal processing</a:t>
                </a:r>
              </a:p>
              <a:p>
                <a:pPr marL="342900" indent="-342900" algn="l">
                  <a:spcAft>
                    <a:spcPts val="600"/>
                  </a:spcAft>
                  <a:buFont typeface="Arial" pitchFamily="34" charset="0"/>
                  <a:buChar char="•"/>
                  <a:defRPr/>
                </a:pPr>
                <a:r>
                  <a:rPr lang="en-GB" sz="2200" dirty="0">
                    <a:latin typeface="+mn-lt"/>
                  </a:rPr>
                  <a:t>A very prominent example is Finite Impulse Response (FIR) and Infinite Impulse Response (IIR) Filters</a:t>
                </a:r>
              </a:p>
              <a:p>
                <a:pPr marL="342900" indent="-342900" algn="l">
                  <a:spcAft>
                    <a:spcPts val="600"/>
                  </a:spcAft>
                  <a:buFont typeface="Arial" pitchFamily="34" charset="0"/>
                  <a:buChar char="•"/>
                  <a:defRPr/>
                </a:pPr>
                <a:r>
                  <a:rPr lang="en-GB" sz="2200" dirty="0">
                    <a:latin typeface="+mn-lt"/>
                  </a:rPr>
                  <a:t>Typically we find out the filter co-</a:t>
                </a:r>
                <a:r>
                  <a:rPr lang="en-GB" sz="2200" dirty="0" err="1">
                    <a:latin typeface="+mn-lt"/>
                  </a:rPr>
                  <a:t>efficients</a:t>
                </a:r>
                <a:r>
                  <a:rPr lang="en-GB" sz="2200" dirty="0">
                    <a:latin typeface="+mn-lt"/>
                  </a:rPr>
                  <a:t> (</a:t>
                </a:r>
                <a:r>
                  <a:rPr lang="en-GB" sz="2200" dirty="0" err="1">
                    <a:latin typeface="+mn-lt"/>
                  </a:rPr>
                  <a:t>h</a:t>
                </a:r>
                <a:r>
                  <a:rPr lang="en-GB" sz="2200" baseline="-25000" dirty="0" err="1">
                    <a:latin typeface="+mn-lt"/>
                  </a:rPr>
                  <a:t>k</a:t>
                </a:r>
                <a:r>
                  <a:rPr lang="en-GB" sz="2200" dirty="0">
                    <a:latin typeface="+mn-lt"/>
                  </a:rPr>
                  <a:t>) based on the filter characteristics we want – normally using </a:t>
                </a:r>
                <a:r>
                  <a:rPr lang="en-GB" sz="2200" dirty="0" err="1">
                    <a:latin typeface="+mn-lt"/>
                  </a:rPr>
                  <a:t>Matlab</a:t>
                </a:r>
                <a:r>
                  <a:rPr lang="en-GB" sz="2200" dirty="0">
                    <a:latin typeface="+mn-lt"/>
                  </a:rPr>
                  <a:t> or other software - and then implement it </a:t>
                </a:r>
                <a:endParaRPr lang="en-GB" sz="2000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20" y="1412776"/>
                <a:ext cx="9073008" cy="4475969"/>
              </a:xfrm>
              <a:prstGeom prst="rect">
                <a:avLst/>
              </a:prstGeom>
              <a:blipFill>
                <a:blip r:embed="rId3"/>
                <a:stretch>
                  <a:fillRect l="-874" t="-817" r="-1277" b="-19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A9A09-7E24-48D3-806C-40EA1D18E6E9}" type="slidenum">
              <a:rPr lang="en-GB"/>
              <a:pPr>
                <a:defRPr/>
              </a:pPr>
              <a:t>3</a:t>
            </a:fld>
            <a:endParaRPr lang="en-GB" dirty="0"/>
          </a:p>
        </p:txBody>
      </p:sp>
      <p:sp>
        <p:nvSpPr>
          <p:cNvPr id="97365" name="Rectangle 85"/>
          <p:cNvSpPr>
            <a:spLocks noGrp="1" noChangeArrowheads="1"/>
          </p:cNvSpPr>
          <p:nvPr>
            <p:ph type="title"/>
          </p:nvPr>
        </p:nvSpPr>
        <p:spPr>
          <a:xfrm>
            <a:off x="439738" y="642938"/>
            <a:ext cx="7467600" cy="914400"/>
          </a:xfrm>
        </p:spPr>
        <p:txBody>
          <a:bodyPr lIns="91440" tIns="45720" rIns="91440" bIns="45720"/>
          <a:lstStyle/>
          <a:p>
            <a:pPr>
              <a:defRPr/>
            </a:pPr>
            <a:r>
              <a:rPr lang="en-GB" dirty="0"/>
              <a:t>FIR filter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0512" y="1341894"/>
            <a:ext cx="90730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GB" sz="2200" dirty="0">
                <a:latin typeface="+mn-lt"/>
              </a:rPr>
              <a:t>The basic equation of N</a:t>
            </a:r>
            <a:r>
              <a:rPr lang="en-GB" sz="2200" baseline="30000" dirty="0">
                <a:latin typeface="+mn-lt"/>
              </a:rPr>
              <a:t>th</a:t>
            </a:r>
            <a:r>
              <a:rPr lang="en-GB" sz="2200" dirty="0">
                <a:latin typeface="+mn-lt"/>
              </a:rPr>
              <a:t> order FIR filter is</a:t>
            </a:r>
            <a:endParaRPr lang="en-GB" sz="2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C109DB-32F6-4EC9-8D15-A9A85788CD75}"/>
                  </a:ext>
                </a:extLst>
              </p:cNvPr>
              <p:cNvSpPr txBox="1"/>
              <p:nvPr/>
            </p:nvSpPr>
            <p:spPr>
              <a:xfrm>
                <a:off x="1155819" y="1806063"/>
                <a:ext cx="2260362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C109DB-32F6-4EC9-8D15-A9A85788C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819" y="1806063"/>
                <a:ext cx="2260362" cy="10388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22594A8-D062-4099-AEA5-9D6E3660B9B8}"/>
              </a:ext>
            </a:extLst>
          </p:cNvPr>
          <p:cNvSpPr txBox="1"/>
          <p:nvPr/>
        </p:nvSpPr>
        <p:spPr>
          <a:xfrm>
            <a:off x="704528" y="4797152"/>
            <a:ext cx="79928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</a:rPr>
              <a:t>This is the direct form of implementation of an FIR filter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</a:rPr>
              <a:t>Lots of multiplications and additions are happening here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</a:rPr>
              <a:t>How to implement such a structure?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835557-761B-4F71-9564-2B1C56627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107" y="1811955"/>
            <a:ext cx="5952308" cy="257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47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A9A09-7E24-48D3-806C-40EA1D18E6E9}" type="slidenum">
              <a:rPr lang="en-GB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97365" name="Rectangle 85"/>
          <p:cNvSpPr>
            <a:spLocks noGrp="1" noChangeArrowheads="1"/>
          </p:cNvSpPr>
          <p:nvPr>
            <p:ph type="title"/>
          </p:nvPr>
        </p:nvSpPr>
        <p:spPr>
          <a:xfrm>
            <a:off x="439738" y="642938"/>
            <a:ext cx="7467600" cy="914400"/>
          </a:xfrm>
        </p:spPr>
        <p:txBody>
          <a:bodyPr lIns="91440" tIns="45720" rIns="91440" bIns="45720"/>
          <a:lstStyle/>
          <a:p>
            <a:pPr>
              <a:defRPr/>
            </a:pPr>
            <a:r>
              <a:rPr lang="en-GB" dirty="0"/>
              <a:t>FIR filter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0512" y="1341894"/>
            <a:ext cx="90730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GB" sz="2200" dirty="0">
                <a:latin typeface="+mn-lt"/>
              </a:rPr>
              <a:t>Let’s try to understand it a bit more: let’s say we are dealing with a 3</a:t>
            </a:r>
            <a:r>
              <a:rPr lang="en-GB" sz="2200" baseline="30000" dirty="0">
                <a:latin typeface="+mn-lt"/>
              </a:rPr>
              <a:t>rd</a:t>
            </a:r>
            <a:r>
              <a:rPr lang="en-GB" sz="2200" dirty="0">
                <a:latin typeface="+mn-lt"/>
              </a:rPr>
              <a:t> order FIR filter </a:t>
            </a:r>
            <a:endParaRPr lang="en-GB" sz="20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3F4562-4ACE-4ED9-B42B-20B28625DA81}"/>
              </a:ext>
            </a:extLst>
          </p:cNvPr>
          <p:cNvSpPr txBox="1"/>
          <p:nvPr/>
        </p:nvSpPr>
        <p:spPr>
          <a:xfrm>
            <a:off x="4953001" y="1948770"/>
            <a:ext cx="4876800" cy="1938992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h</a:t>
            </a:r>
            <a:r>
              <a:rPr lang="en-GB" sz="2000" baseline="-25000" dirty="0">
                <a:latin typeface="+mn-lt"/>
              </a:rPr>
              <a:t>0</a:t>
            </a:r>
            <a:r>
              <a:rPr lang="en-GB" sz="2000" dirty="0">
                <a:latin typeface="+mn-lt"/>
              </a:rPr>
              <a:t>, h</a:t>
            </a:r>
            <a:r>
              <a:rPr lang="en-GB" sz="2000" baseline="-25000" dirty="0">
                <a:latin typeface="+mn-lt"/>
              </a:rPr>
              <a:t>1</a:t>
            </a:r>
            <a:r>
              <a:rPr lang="en-GB" sz="2000" dirty="0">
                <a:latin typeface="+mn-lt"/>
              </a:rPr>
              <a:t>, h</a:t>
            </a:r>
            <a:r>
              <a:rPr lang="en-GB" sz="2000" baseline="-25000" dirty="0">
                <a:latin typeface="+mn-lt"/>
              </a:rPr>
              <a:t>2</a:t>
            </a:r>
            <a:r>
              <a:rPr lang="en-GB" sz="2000" dirty="0">
                <a:latin typeface="+mn-lt"/>
              </a:rPr>
              <a:t>, h</a:t>
            </a:r>
            <a:r>
              <a:rPr lang="en-GB" sz="2000" baseline="-25000" dirty="0">
                <a:latin typeface="+mn-lt"/>
              </a:rPr>
              <a:t>3</a:t>
            </a:r>
            <a:r>
              <a:rPr lang="en-GB" sz="2000" dirty="0">
                <a:latin typeface="+mn-lt"/>
              </a:rPr>
              <a:t> are 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2</a:t>
            </a:r>
            <a:r>
              <a:rPr lang="en-GB" sz="2000" dirty="0">
                <a:latin typeface="+mn-lt"/>
              </a:rPr>
              <a:t>, 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3</a:t>
            </a:r>
            <a:r>
              <a:rPr lang="en-GB" sz="2000" dirty="0">
                <a:latin typeface="+mn-lt"/>
              </a:rPr>
              <a:t>, 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4</a:t>
            </a:r>
            <a:r>
              <a:rPr lang="en-GB" sz="2000" dirty="0">
                <a:latin typeface="+mn-lt"/>
              </a:rPr>
              <a:t> and 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5</a:t>
            </a:r>
            <a:r>
              <a:rPr lang="en-GB" sz="2000" dirty="0">
                <a:latin typeface="+mn-lt"/>
              </a:rPr>
              <a:t> respectively</a:t>
            </a:r>
          </a:p>
          <a:p>
            <a:pPr algn="l"/>
            <a:r>
              <a:rPr lang="en-GB" sz="2000" dirty="0">
                <a:latin typeface="+mn-lt"/>
              </a:rPr>
              <a:t>At t = 0, x</a:t>
            </a:r>
            <a:r>
              <a:rPr lang="en-GB" sz="2000" baseline="-25000" dirty="0">
                <a:latin typeface="+mn-lt"/>
              </a:rPr>
              <a:t>0</a:t>
            </a:r>
            <a:r>
              <a:rPr lang="en-GB" sz="2000" dirty="0">
                <a:latin typeface="+mn-lt"/>
              </a:rPr>
              <a:t> = 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1</a:t>
            </a:r>
            <a:r>
              <a:rPr lang="en-GB" sz="2000" dirty="0">
                <a:latin typeface="+mn-lt"/>
              </a:rPr>
              <a:t>; y</a:t>
            </a:r>
            <a:r>
              <a:rPr lang="en-GB" sz="2000" baseline="-25000" dirty="0">
                <a:latin typeface="+mn-lt"/>
              </a:rPr>
              <a:t>0</a:t>
            </a:r>
            <a:r>
              <a:rPr lang="en-GB" sz="2000" dirty="0">
                <a:latin typeface="+mn-lt"/>
              </a:rPr>
              <a:t> =(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2</a:t>
            </a:r>
            <a:r>
              <a:rPr lang="en-GB" sz="2000" dirty="0">
                <a:latin typeface="+mn-lt"/>
              </a:rPr>
              <a:t>*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1</a:t>
            </a:r>
            <a:r>
              <a:rPr lang="en-GB" sz="2000" dirty="0">
                <a:latin typeface="+mn-lt"/>
              </a:rPr>
              <a:t>+0+0+0) = 2</a:t>
            </a:r>
          </a:p>
          <a:p>
            <a:pPr algn="l"/>
            <a:r>
              <a:rPr lang="en-GB" sz="2000" dirty="0">
                <a:latin typeface="+mn-lt"/>
              </a:rPr>
              <a:t>At t = 1, x</a:t>
            </a:r>
            <a:r>
              <a:rPr lang="en-GB" sz="2000" baseline="-25000" dirty="0">
                <a:latin typeface="+mn-lt"/>
              </a:rPr>
              <a:t>1</a:t>
            </a:r>
            <a:r>
              <a:rPr lang="en-GB" sz="2000" dirty="0">
                <a:latin typeface="+mn-lt"/>
              </a:rPr>
              <a:t> = 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2</a:t>
            </a:r>
            <a:r>
              <a:rPr lang="en-GB" sz="2000" dirty="0">
                <a:latin typeface="+mn-lt"/>
              </a:rPr>
              <a:t>; y</a:t>
            </a:r>
            <a:r>
              <a:rPr lang="en-GB" sz="2000" baseline="-25000" dirty="0">
                <a:latin typeface="+mn-lt"/>
              </a:rPr>
              <a:t>1</a:t>
            </a:r>
            <a:r>
              <a:rPr lang="en-GB" sz="2000" dirty="0">
                <a:latin typeface="+mn-lt"/>
              </a:rPr>
              <a:t> = (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2</a:t>
            </a:r>
            <a:r>
              <a:rPr lang="en-GB" sz="2000" dirty="0">
                <a:latin typeface="+mn-lt"/>
              </a:rPr>
              <a:t>*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2</a:t>
            </a:r>
            <a:r>
              <a:rPr lang="en-GB" sz="2000" dirty="0">
                <a:latin typeface="+mn-lt"/>
              </a:rPr>
              <a:t>+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3</a:t>
            </a:r>
            <a:r>
              <a:rPr lang="en-GB" sz="2000" dirty="0">
                <a:latin typeface="+mn-lt"/>
              </a:rPr>
              <a:t>*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1</a:t>
            </a:r>
            <a:r>
              <a:rPr lang="en-GB" sz="2000" dirty="0">
                <a:latin typeface="+mn-lt"/>
              </a:rPr>
              <a:t>+0+0) = 7</a:t>
            </a:r>
          </a:p>
          <a:p>
            <a:pPr algn="l"/>
            <a:r>
              <a:rPr lang="en-GB" sz="2000" dirty="0">
                <a:latin typeface="+mn-lt"/>
              </a:rPr>
              <a:t>At t = 2, x</a:t>
            </a:r>
            <a:r>
              <a:rPr lang="en-GB" sz="2000" baseline="-25000" dirty="0">
                <a:latin typeface="+mn-lt"/>
              </a:rPr>
              <a:t>2</a:t>
            </a:r>
            <a:r>
              <a:rPr lang="en-GB" sz="2000" dirty="0">
                <a:latin typeface="+mn-lt"/>
              </a:rPr>
              <a:t> = 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3</a:t>
            </a:r>
            <a:r>
              <a:rPr lang="en-GB" sz="2000" dirty="0">
                <a:latin typeface="+mn-lt"/>
              </a:rPr>
              <a:t>; y</a:t>
            </a:r>
            <a:r>
              <a:rPr lang="en-GB" sz="2000" baseline="-25000" dirty="0">
                <a:latin typeface="+mn-lt"/>
              </a:rPr>
              <a:t>2</a:t>
            </a:r>
            <a:r>
              <a:rPr lang="en-GB" sz="2000" dirty="0">
                <a:latin typeface="+mn-lt"/>
              </a:rPr>
              <a:t> = (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2</a:t>
            </a:r>
            <a:r>
              <a:rPr lang="en-GB" sz="2000" dirty="0">
                <a:latin typeface="+mn-lt"/>
              </a:rPr>
              <a:t>*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3</a:t>
            </a:r>
            <a:r>
              <a:rPr lang="en-GB" sz="2000" dirty="0">
                <a:latin typeface="+mn-lt"/>
              </a:rPr>
              <a:t>+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3</a:t>
            </a:r>
            <a:r>
              <a:rPr lang="en-GB" sz="2000" dirty="0">
                <a:latin typeface="+mn-lt"/>
              </a:rPr>
              <a:t>*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2</a:t>
            </a:r>
            <a:r>
              <a:rPr lang="en-GB" sz="2000" dirty="0">
                <a:latin typeface="+mn-lt"/>
              </a:rPr>
              <a:t>+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4</a:t>
            </a:r>
            <a:r>
              <a:rPr lang="en-GB" sz="2000" dirty="0">
                <a:latin typeface="+mn-lt"/>
              </a:rPr>
              <a:t>*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1</a:t>
            </a:r>
            <a:r>
              <a:rPr lang="en-GB" sz="2000" dirty="0">
                <a:latin typeface="+mn-lt"/>
              </a:rPr>
              <a:t>+0) =16</a:t>
            </a:r>
          </a:p>
          <a:p>
            <a:pPr algn="l"/>
            <a:r>
              <a:rPr lang="en-GB" sz="2000" dirty="0">
                <a:latin typeface="+mn-lt"/>
              </a:rPr>
              <a:t>At t = 3, x</a:t>
            </a:r>
            <a:r>
              <a:rPr lang="en-GB" sz="2000" baseline="-25000" dirty="0">
                <a:latin typeface="+mn-lt"/>
              </a:rPr>
              <a:t>3</a:t>
            </a:r>
            <a:r>
              <a:rPr lang="en-GB" sz="2000" dirty="0">
                <a:latin typeface="+mn-lt"/>
              </a:rPr>
              <a:t> = 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4</a:t>
            </a:r>
            <a:r>
              <a:rPr lang="en-GB" sz="2000" dirty="0">
                <a:latin typeface="+mn-lt"/>
              </a:rPr>
              <a:t>; y</a:t>
            </a:r>
            <a:r>
              <a:rPr lang="en-GB" sz="2000" baseline="-25000" dirty="0">
                <a:latin typeface="+mn-lt"/>
              </a:rPr>
              <a:t>3</a:t>
            </a:r>
            <a:r>
              <a:rPr lang="en-GB" sz="2000" dirty="0">
                <a:latin typeface="+mn-lt"/>
              </a:rPr>
              <a:t> = (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2</a:t>
            </a:r>
            <a:r>
              <a:rPr lang="en-GB" sz="2000" dirty="0">
                <a:latin typeface="+mn-lt"/>
              </a:rPr>
              <a:t>*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4</a:t>
            </a:r>
            <a:r>
              <a:rPr lang="en-GB" sz="2000" dirty="0">
                <a:latin typeface="+mn-lt"/>
              </a:rPr>
              <a:t>+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3</a:t>
            </a:r>
            <a:r>
              <a:rPr lang="en-GB" sz="2000" dirty="0">
                <a:latin typeface="+mn-lt"/>
              </a:rPr>
              <a:t>*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3</a:t>
            </a:r>
            <a:r>
              <a:rPr lang="en-GB" sz="2000" dirty="0">
                <a:latin typeface="+mn-lt"/>
              </a:rPr>
              <a:t>+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4</a:t>
            </a:r>
            <a:r>
              <a:rPr lang="en-GB" sz="2000" dirty="0">
                <a:latin typeface="+mn-lt"/>
              </a:rPr>
              <a:t>*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2</a:t>
            </a:r>
            <a:r>
              <a:rPr lang="en-GB" sz="2000" dirty="0">
                <a:latin typeface="+mn-lt"/>
              </a:rPr>
              <a:t>+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5</a:t>
            </a:r>
            <a:r>
              <a:rPr lang="en-GB" sz="2000" dirty="0">
                <a:latin typeface="+mn-lt"/>
              </a:rPr>
              <a:t>*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1</a:t>
            </a:r>
            <a:r>
              <a:rPr lang="en-GB" sz="2000" dirty="0">
                <a:latin typeface="+mn-lt"/>
              </a:rPr>
              <a:t>) 			   =30</a:t>
            </a:r>
            <a:endParaRPr lang="en-GB" sz="20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E65512-A494-4487-871F-8A4EE14FB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68" y="2068353"/>
            <a:ext cx="4467850" cy="272129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EA1692A8-249B-4599-A993-8BC44E0FD5F9}"/>
              </a:ext>
            </a:extLst>
          </p:cNvPr>
          <p:cNvSpPr txBox="1"/>
          <p:nvPr/>
        </p:nvSpPr>
        <p:spPr>
          <a:xfrm>
            <a:off x="743696" y="4494638"/>
            <a:ext cx="9073008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GB" sz="2000" dirty="0">
                <a:latin typeface="+mn-lt"/>
              </a:rPr>
              <a:t>There are different ways to implement such a filter, e.g. consult the multiplier.pptx to see how a multiplier with one fixed multiplier can be realised using shift-and-add techniques</a:t>
            </a:r>
          </a:p>
          <a:p>
            <a:pPr marL="342900" indent="-342900" algn="l"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GB" sz="2000" dirty="0">
                <a:latin typeface="+mn-lt"/>
              </a:rPr>
              <a:t>You may also consider Distributed Arithmetic technique we describe here</a:t>
            </a:r>
          </a:p>
        </p:txBody>
      </p:sp>
    </p:spTree>
    <p:extLst>
      <p:ext uri="{BB962C8B-B14F-4D97-AF65-F5344CB8AC3E}">
        <p14:creationId xmlns:p14="http://schemas.microsoft.com/office/powerpoint/2010/main" val="91205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A9A09-7E24-48D3-806C-40EA1D18E6E9}" type="slidenum">
              <a:rPr lang="en-GB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97365" name="Rectangle 85"/>
          <p:cNvSpPr>
            <a:spLocks noGrp="1" noChangeArrowheads="1"/>
          </p:cNvSpPr>
          <p:nvPr>
            <p:ph type="title"/>
          </p:nvPr>
        </p:nvSpPr>
        <p:spPr>
          <a:xfrm>
            <a:off x="439738" y="642938"/>
            <a:ext cx="7467600" cy="914400"/>
          </a:xfrm>
        </p:spPr>
        <p:txBody>
          <a:bodyPr lIns="91440" tIns="45720" rIns="91440" bIns="45720"/>
          <a:lstStyle/>
          <a:p>
            <a:pPr>
              <a:defRPr/>
            </a:pPr>
            <a:r>
              <a:rPr lang="en-GB" dirty="0"/>
              <a:t>Distributed Arithmetic (DA)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32520" y="1352962"/>
            <a:ext cx="9073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GB" sz="2000" b="0" dirty="0">
                <a:latin typeface="+mn-lt"/>
              </a:rPr>
              <a:t>Let’s say </a:t>
            </a:r>
            <a:r>
              <a:rPr lang="en-GB" sz="2000" b="0" dirty="0" err="1">
                <a:latin typeface="+mn-lt"/>
              </a:rPr>
              <a:t>x</a:t>
            </a:r>
            <a:r>
              <a:rPr lang="en-GB" sz="2000" b="0" baseline="-25000" dirty="0" err="1">
                <a:latin typeface="+mn-lt"/>
              </a:rPr>
              <a:t>n</a:t>
            </a:r>
            <a:r>
              <a:rPr lang="en-GB" sz="2000" b="0" dirty="0">
                <a:latin typeface="+mn-lt"/>
              </a:rPr>
              <a:t> is the n</a:t>
            </a:r>
            <a:r>
              <a:rPr lang="en-GB" sz="2000" baseline="30000" dirty="0">
                <a:latin typeface="+mn-lt"/>
              </a:rPr>
              <a:t>th</a:t>
            </a:r>
            <a:r>
              <a:rPr lang="en-GB" sz="2000" b="0" dirty="0">
                <a:latin typeface="+mn-lt"/>
              </a:rPr>
              <a:t> data and is a k-bit number. So…..</a:t>
            </a:r>
            <a:endParaRPr lang="en-GB" sz="2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6CF883-5143-4578-A849-0238CC596C12}"/>
                  </a:ext>
                </a:extLst>
              </p:cNvPr>
              <p:cNvSpPr txBox="1"/>
              <p:nvPr/>
            </p:nvSpPr>
            <p:spPr>
              <a:xfrm>
                <a:off x="927706" y="1855604"/>
                <a:ext cx="7016600" cy="400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6CF883-5143-4578-A849-0238CC596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06" y="1855604"/>
                <a:ext cx="7016600" cy="400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40E7F05F-4A38-4471-B256-4D38724C1E43}"/>
              </a:ext>
            </a:extLst>
          </p:cNvPr>
          <p:cNvSpPr txBox="1"/>
          <p:nvPr/>
        </p:nvSpPr>
        <p:spPr>
          <a:xfrm>
            <a:off x="632520" y="2369725"/>
            <a:ext cx="4464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en-GB" sz="2000" b="0" dirty="0">
                <a:latin typeface="+mn-lt"/>
              </a:rPr>
              <a:t>REMEMBER </a:t>
            </a:r>
            <a:r>
              <a:rPr lang="en-GB" sz="2000" b="0" dirty="0" err="1">
                <a:latin typeface="+mn-lt"/>
              </a:rPr>
              <a:t>x</a:t>
            </a:r>
            <a:r>
              <a:rPr lang="en-GB" sz="2000" b="0" baseline="-25000" dirty="0" err="1">
                <a:latin typeface="+mn-lt"/>
              </a:rPr>
              <a:t>n,i</a:t>
            </a:r>
            <a:r>
              <a:rPr lang="en-GB" sz="2000" b="0" dirty="0">
                <a:latin typeface="+mn-lt"/>
              </a:rPr>
              <a:t> is either 0 or 1</a:t>
            </a:r>
            <a:endParaRPr lang="en-GB" sz="2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B01F0B-7A02-4494-AC3E-97D55547D1F8}"/>
                  </a:ext>
                </a:extLst>
              </p:cNvPr>
              <p:cNvSpPr txBox="1"/>
              <p:nvPr/>
            </p:nvSpPr>
            <p:spPr>
              <a:xfrm>
                <a:off x="848544" y="2859104"/>
                <a:ext cx="6219780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B01F0B-7A02-4494-AC3E-97D55547D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44" y="2859104"/>
                <a:ext cx="6219780" cy="10388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81E943D3-3F40-41D5-B4D4-69D94A313C34}"/>
              </a:ext>
            </a:extLst>
          </p:cNvPr>
          <p:cNvSpPr txBox="1"/>
          <p:nvPr/>
        </p:nvSpPr>
        <p:spPr>
          <a:xfrm>
            <a:off x="488504" y="3963076"/>
            <a:ext cx="4464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en-GB" sz="2000" b="0" dirty="0">
                <a:latin typeface="+mn-lt"/>
              </a:rPr>
              <a:t>Let’s take it term by term</a:t>
            </a:r>
            <a:endParaRPr lang="en-GB" sz="2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D0E5E73-2F0B-4ACC-A32E-652B157B3F1A}"/>
                  </a:ext>
                </a:extLst>
              </p:cNvPr>
              <p:cNvSpPr txBox="1"/>
              <p:nvPr/>
            </p:nvSpPr>
            <p:spPr>
              <a:xfrm>
                <a:off x="927706" y="4411443"/>
                <a:ext cx="7839518" cy="400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0,0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D0E5E73-2F0B-4ACC-A32E-652B157B3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06" y="4411443"/>
                <a:ext cx="7839518" cy="4006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422AA17-B183-4EFA-B4B6-98A23A6A3F04}"/>
                  </a:ext>
                </a:extLst>
              </p:cNvPr>
              <p:cNvSpPr txBox="1"/>
              <p:nvPr/>
            </p:nvSpPr>
            <p:spPr>
              <a:xfrm>
                <a:off x="927706" y="4943974"/>
                <a:ext cx="7839518" cy="400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422AA17-B183-4EFA-B4B6-98A23A6A3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06" y="4943974"/>
                <a:ext cx="7839518" cy="4006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AB39B55-810B-423D-9932-7DC9EEDDC693}"/>
                  </a:ext>
                </a:extLst>
              </p:cNvPr>
              <p:cNvSpPr txBox="1"/>
              <p:nvPr/>
            </p:nvSpPr>
            <p:spPr>
              <a:xfrm>
                <a:off x="777785" y="5487462"/>
                <a:ext cx="8048614" cy="400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−1,1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−1,0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AB39B55-810B-423D-9932-7DC9EEDDC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85" y="5487462"/>
                <a:ext cx="8048614" cy="4006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49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A9A09-7E24-48D3-806C-40EA1D18E6E9}" type="slidenum">
              <a:rPr lang="en-GB"/>
              <a:pPr>
                <a:defRPr/>
              </a:pPr>
              <a:t>6</a:t>
            </a:fld>
            <a:endParaRPr lang="en-GB" dirty="0"/>
          </a:p>
        </p:txBody>
      </p:sp>
      <p:sp>
        <p:nvSpPr>
          <p:cNvPr id="97365" name="Rectangle 85"/>
          <p:cNvSpPr>
            <a:spLocks noGrp="1" noChangeArrowheads="1"/>
          </p:cNvSpPr>
          <p:nvPr>
            <p:ph type="title"/>
          </p:nvPr>
        </p:nvSpPr>
        <p:spPr>
          <a:xfrm>
            <a:off x="439738" y="642938"/>
            <a:ext cx="7467600" cy="914400"/>
          </a:xfrm>
        </p:spPr>
        <p:txBody>
          <a:bodyPr lIns="91440" tIns="45720" rIns="91440" bIns="45720"/>
          <a:lstStyle/>
          <a:p>
            <a:pPr>
              <a:defRPr/>
            </a:pPr>
            <a:r>
              <a:rPr lang="en-GB" dirty="0"/>
              <a:t>Distributed Arithmetic (DA)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0512" y="1493694"/>
            <a:ext cx="9073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en-GB" sz="2000" b="0" dirty="0">
                <a:latin typeface="+mn-lt"/>
              </a:rPr>
              <a:t>Rearranging we get</a:t>
            </a:r>
            <a:endParaRPr lang="en-GB" sz="2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6CF883-5143-4578-A849-0238CC596C12}"/>
                  </a:ext>
                </a:extLst>
              </p:cNvPr>
              <p:cNvSpPr txBox="1"/>
              <p:nvPr/>
            </p:nvSpPr>
            <p:spPr>
              <a:xfrm rot="10800000" flipV="1">
                <a:off x="503329" y="1893804"/>
                <a:ext cx="8981255" cy="11714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−1,0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]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6CF883-5143-4578-A849-0238CC596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503329" y="1893804"/>
                <a:ext cx="8981255" cy="1171493"/>
              </a:xfrm>
              <a:prstGeom prst="rect">
                <a:avLst/>
              </a:prstGeom>
              <a:blipFill>
                <a:blip r:embed="rId3"/>
                <a:stretch>
                  <a:fillRect b="-7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A3449C7-5EE0-4AB5-830C-99E951118995}"/>
              </a:ext>
            </a:extLst>
          </p:cNvPr>
          <p:cNvSpPr txBox="1"/>
          <p:nvPr/>
        </p:nvSpPr>
        <p:spPr>
          <a:xfrm>
            <a:off x="457453" y="3206029"/>
            <a:ext cx="9073008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2000" b="0" dirty="0">
                <a:latin typeface="+mn-lt"/>
              </a:rPr>
              <a:t>Since </a:t>
            </a:r>
            <a:r>
              <a:rPr lang="en-GB" sz="2000" b="0" dirty="0" err="1">
                <a:latin typeface="+mn-lt"/>
              </a:rPr>
              <a:t>h</a:t>
            </a:r>
            <a:r>
              <a:rPr lang="en-GB" sz="2000" b="0" baseline="-25000" dirty="0" err="1">
                <a:latin typeface="+mn-lt"/>
              </a:rPr>
              <a:t>i</a:t>
            </a:r>
            <a:r>
              <a:rPr lang="en-GB" sz="2000" b="0" dirty="0" err="1">
                <a:latin typeface="+mn-lt"/>
              </a:rPr>
              <a:t>’s</a:t>
            </a:r>
            <a:r>
              <a:rPr lang="en-GB" sz="2000" b="0" dirty="0">
                <a:latin typeface="+mn-lt"/>
              </a:rPr>
              <a:t> are fixed and </a:t>
            </a:r>
            <a:r>
              <a:rPr lang="en-GB" sz="2000" b="0" dirty="0" err="1">
                <a:latin typeface="+mn-lt"/>
              </a:rPr>
              <a:t>x</a:t>
            </a:r>
            <a:r>
              <a:rPr lang="en-GB" sz="2000" b="0" baseline="-25000" dirty="0" err="1">
                <a:latin typeface="+mn-lt"/>
              </a:rPr>
              <a:t>n,i</a:t>
            </a:r>
            <a:r>
              <a:rPr lang="en-GB" sz="2000" b="0" dirty="0">
                <a:latin typeface="+mn-lt"/>
              </a:rPr>
              <a:t> are either 0 or 1, each term in the [.] becomes only a combination of h</a:t>
            </a:r>
            <a:r>
              <a:rPr lang="en-GB" sz="2000" b="0" baseline="-25000" dirty="0">
                <a:latin typeface="+mn-lt"/>
              </a:rPr>
              <a:t>i</a:t>
            </a:r>
            <a:r>
              <a:rPr lang="en-GB" sz="2000" b="0" dirty="0">
                <a:latin typeface="+mn-lt"/>
              </a:rPr>
              <a:t> depending upon the value of </a:t>
            </a:r>
            <a:r>
              <a:rPr lang="en-GB" sz="2000" b="0" dirty="0" err="1">
                <a:latin typeface="+mn-lt"/>
              </a:rPr>
              <a:t>x</a:t>
            </a:r>
            <a:r>
              <a:rPr lang="en-GB" sz="2000" b="0" baseline="-25000" dirty="0" err="1">
                <a:latin typeface="+mn-lt"/>
              </a:rPr>
              <a:t>n,I</a:t>
            </a:r>
            <a:r>
              <a:rPr lang="en-GB" sz="2000" b="0" dirty="0">
                <a:latin typeface="+mn-lt"/>
              </a:rPr>
              <a:t> and therefore can be precomputed and stored in a LUT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2000" dirty="0">
                <a:latin typeface="+mn-lt"/>
              </a:rPr>
              <a:t>Once we have the actual </a:t>
            </a:r>
            <a:r>
              <a:rPr lang="en-GB" sz="2000" dirty="0" err="1">
                <a:latin typeface="+mn-lt"/>
              </a:rPr>
              <a:t>x</a:t>
            </a:r>
            <a:r>
              <a:rPr lang="en-GB" sz="2000" baseline="-25000" dirty="0" err="1">
                <a:latin typeface="+mn-lt"/>
              </a:rPr>
              <a:t>n</a:t>
            </a:r>
            <a:r>
              <a:rPr lang="en-GB" sz="2000" dirty="0" err="1">
                <a:latin typeface="+mn-lt"/>
              </a:rPr>
              <a:t>’s</a:t>
            </a:r>
            <a:r>
              <a:rPr lang="en-GB" sz="2000" dirty="0">
                <a:latin typeface="+mn-lt"/>
              </a:rPr>
              <a:t> we can use their bit patterns as address to retrieve the correct values from the LUT and send it to sum block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2000" dirty="0">
                <a:latin typeface="+mn-lt"/>
              </a:rPr>
              <a:t>What we achieved here is very fast </a:t>
            </a:r>
            <a:r>
              <a:rPr lang="en-GB" sz="2000" dirty="0" err="1">
                <a:latin typeface="+mn-lt"/>
              </a:rPr>
              <a:t>multiplierless</a:t>
            </a:r>
            <a:r>
              <a:rPr lang="en-GB" sz="2000" dirty="0">
                <a:latin typeface="+mn-lt"/>
              </a:rPr>
              <a:t> multiplication operation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2000" dirty="0">
                <a:latin typeface="+mn-lt"/>
              </a:rPr>
              <a:t>Let’s explain it with a specific example</a:t>
            </a:r>
          </a:p>
        </p:txBody>
      </p:sp>
    </p:spTree>
    <p:extLst>
      <p:ext uri="{BB962C8B-B14F-4D97-AF65-F5344CB8AC3E}">
        <p14:creationId xmlns:p14="http://schemas.microsoft.com/office/powerpoint/2010/main" val="2808866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A9A09-7E24-48D3-806C-40EA1D18E6E9}" type="slidenum">
              <a:rPr lang="en-GB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97365" name="Rectangle 85"/>
          <p:cNvSpPr>
            <a:spLocks noGrp="1" noChangeArrowheads="1"/>
          </p:cNvSpPr>
          <p:nvPr>
            <p:ph type="title"/>
          </p:nvPr>
        </p:nvSpPr>
        <p:spPr>
          <a:xfrm>
            <a:off x="439738" y="642938"/>
            <a:ext cx="7467600" cy="914400"/>
          </a:xfrm>
        </p:spPr>
        <p:txBody>
          <a:bodyPr lIns="91440" tIns="45720" rIns="91440" bIns="45720"/>
          <a:lstStyle/>
          <a:p>
            <a:pPr>
              <a:defRPr/>
            </a:pPr>
            <a:r>
              <a:rPr lang="en-GB" dirty="0"/>
              <a:t>Distributed Arithmetic (DA)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4FB99C-7305-49E5-BFC3-FD4FD6591893}"/>
              </a:ext>
            </a:extLst>
          </p:cNvPr>
          <p:cNvSpPr txBox="1"/>
          <p:nvPr/>
        </p:nvSpPr>
        <p:spPr>
          <a:xfrm>
            <a:off x="618831" y="1456848"/>
            <a:ext cx="8568952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h</a:t>
            </a:r>
            <a:r>
              <a:rPr lang="en-GB" sz="2000" baseline="-25000" dirty="0">
                <a:latin typeface="+mn-lt"/>
              </a:rPr>
              <a:t>0</a:t>
            </a:r>
            <a:r>
              <a:rPr lang="en-GB" sz="2000" dirty="0">
                <a:latin typeface="+mn-lt"/>
              </a:rPr>
              <a:t>, h</a:t>
            </a:r>
            <a:r>
              <a:rPr lang="en-GB" sz="2000" baseline="-25000" dirty="0">
                <a:latin typeface="+mn-lt"/>
              </a:rPr>
              <a:t>1</a:t>
            </a:r>
            <a:r>
              <a:rPr lang="en-GB" sz="2000" dirty="0">
                <a:latin typeface="+mn-lt"/>
              </a:rPr>
              <a:t>, h</a:t>
            </a:r>
            <a:r>
              <a:rPr lang="en-GB" sz="2000" baseline="-25000" dirty="0">
                <a:latin typeface="+mn-lt"/>
              </a:rPr>
              <a:t>2</a:t>
            </a:r>
            <a:r>
              <a:rPr lang="en-GB" sz="2000" dirty="0">
                <a:latin typeface="+mn-lt"/>
              </a:rPr>
              <a:t>, h</a:t>
            </a:r>
            <a:r>
              <a:rPr lang="en-GB" sz="2000" baseline="-25000" dirty="0">
                <a:latin typeface="+mn-lt"/>
              </a:rPr>
              <a:t>3</a:t>
            </a:r>
            <a:r>
              <a:rPr lang="en-GB" sz="2000" dirty="0">
                <a:latin typeface="+mn-lt"/>
              </a:rPr>
              <a:t> are 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2</a:t>
            </a:r>
            <a:r>
              <a:rPr lang="en-GB" sz="2000" dirty="0">
                <a:latin typeface="+mn-lt"/>
              </a:rPr>
              <a:t>, 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3</a:t>
            </a:r>
            <a:r>
              <a:rPr lang="en-GB" sz="2000" dirty="0">
                <a:latin typeface="+mn-lt"/>
              </a:rPr>
              <a:t>, 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4</a:t>
            </a:r>
            <a:r>
              <a:rPr lang="en-GB" sz="2000" dirty="0">
                <a:latin typeface="+mn-lt"/>
              </a:rPr>
              <a:t> and </a:t>
            </a:r>
            <a:r>
              <a:rPr lang="en-GB" sz="2000" dirty="0">
                <a:solidFill>
                  <a:srgbClr val="C00000"/>
                </a:solidFill>
                <a:latin typeface="+mn-lt"/>
              </a:rPr>
              <a:t>5</a:t>
            </a:r>
            <a:r>
              <a:rPr lang="en-GB" sz="2000" dirty="0">
                <a:latin typeface="+mn-lt"/>
              </a:rPr>
              <a:t> respectively, </a:t>
            </a:r>
            <a:r>
              <a:rPr lang="en-GB" sz="2000" dirty="0" err="1">
                <a:latin typeface="+mn-lt"/>
              </a:rPr>
              <a:t>x</a:t>
            </a:r>
            <a:r>
              <a:rPr lang="en-GB" sz="2000" baseline="-25000" dirty="0" err="1">
                <a:latin typeface="+mn-lt"/>
              </a:rPr>
              <a:t>n</a:t>
            </a:r>
            <a:r>
              <a:rPr lang="en-GB" sz="2000" dirty="0">
                <a:latin typeface="+mn-lt"/>
              </a:rPr>
              <a:t> is a 4-bit number and n =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E2E331-1480-426F-BBE5-F95F0797798A}"/>
                  </a:ext>
                </a:extLst>
              </p:cNvPr>
              <p:cNvSpPr txBox="1"/>
              <p:nvPr/>
            </p:nvSpPr>
            <p:spPr>
              <a:xfrm>
                <a:off x="1178320" y="1906667"/>
                <a:ext cx="5783698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E2E331-1480-426F-BBE5-F95F07977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320" y="1906667"/>
                <a:ext cx="5783698" cy="10388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9D69C9-BDEE-41D9-95CA-ED373460FD4E}"/>
                  </a:ext>
                </a:extLst>
              </p:cNvPr>
              <p:cNvSpPr txBox="1"/>
              <p:nvPr/>
            </p:nvSpPr>
            <p:spPr>
              <a:xfrm>
                <a:off x="650343" y="3082026"/>
                <a:ext cx="8943128" cy="11789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sub>
                    </m:sSub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]+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]+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]+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]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9D69C9-BDEE-41D9-95CA-ED373460F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43" y="3082026"/>
                <a:ext cx="8943128" cy="1178977"/>
              </a:xfrm>
              <a:prstGeom prst="rect">
                <a:avLst/>
              </a:prstGeom>
              <a:blipFill>
                <a:blip r:embed="rId4"/>
                <a:stretch>
                  <a:fillRect l="-1227" t="-7772" b="-129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EE684F-A536-40F4-AF54-E717706535A0}"/>
                  </a:ext>
                </a:extLst>
              </p:cNvPr>
              <p:cNvSpPr txBox="1"/>
              <p:nvPr/>
            </p:nvSpPr>
            <p:spPr>
              <a:xfrm>
                <a:off x="481436" y="4883951"/>
                <a:ext cx="9348364" cy="12042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]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+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3,1</m:t>
                        </m:r>
                      </m:sub>
                    </m:sSub>
                  </m:oMath>
                </a14:m>
                <a:r>
                  <a:rPr lang="en-GB" dirty="0"/>
                  <a:t>]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3,2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EE684F-A536-40F4-AF54-E71770653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36" y="4883951"/>
                <a:ext cx="9348364" cy="1204240"/>
              </a:xfrm>
              <a:prstGeom prst="rect">
                <a:avLst/>
              </a:prstGeom>
              <a:blipFill>
                <a:blip r:embed="rId5"/>
                <a:stretch>
                  <a:fillRect l="-1173" t="-7576"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E09386C-B8EC-454D-B7A0-F38BEFE0BA8B}"/>
              </a:ext>
            </a:extLst>
          </p:cNvPr>
          <p:cNvSpPr txBox="1"/>
          <p:nvPr/>
        </p:nvSpPr>
        <p:spPr>
          <a:xfrm>
            <a:off x="3296816" y="4356258"/>
            <a:ext cx="2887388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Put all 2</a:t>
            </a:r>
            <a:r>
              <a:rPr lang="en-GB" sz="2000" baseline="30000" dirty="0">
                <a:latin typeface="+mn-lt"/>
              </a:rPr>
              <a:t>*</a:t>
            </a:r>
            <a:r>
              <a:rPr lang="en-GB" sz="2000" dirty="0">
                <a:latin typeface="+mn-lt"/>
              </a:rPr>
              <a:t> terms together</a:t>
            </a:r>
          </a:p>
        </p:txBody>
      </p:sp>
    </p:spTree>
    <p:extLst>
      <p:ext uri="{BB962C8B-B14F-4D97-AF65-F5344CB8AC3E}">
        <p14:creationId xmlns:p14="http://schemas.microsoft.com/office/powerpoint/2010/main" val="125413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A9A09-7E24-48D3-806C-40EA1D18E6E9}" type="slidenum">
              <a:rPr lang="en-GB"/>
              <a:pPr>
                <a:defRPr/>
              </a:pPr>
              <a:t>8</a:t>
            </a:fld>
            <a:endParaRPr lang="en-GB" dirty="0"/>
          </a:p>
        </p:txBody>
      </p:sp>
      <p:sp>
        <p:nvSpPr>
          <p:cNvPr id="97365" name="Rectangle 85"/>
          <p:cNvSpPr>
            <a:spLocks noGrp="1" noChangeArrowheads="1"/>
          </p:cNvSpPr>
          <p:nvPr>
            <p:ph type="title"/>
          </p:nvPr>
        </p:nvSpPr>
        <p:spPr>
          <a:xfrm>
            <a:off x="439738" y="642938"/>
            <a:ext cx="7467600" cy="914400"/>
          </a:xfrm>
        </p:spPr>
        <p:txBody>
          <a:bodyPr lIns="91440" tIns="45720" rIns="91440" bIns="45720"/>
          <a:lstStyle/>
          <a:p>
            <a:pPr>
              <a:defRPr/>
            </a:pPr>
            <a:r>
              <a:rPr lang="en-GB" dirty="0"/>
              <a:t>Distributed Arithmetic (DA)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4FB99C-7305-49E5-BFC3-FD4FD6591893}"/>
              </a:ext>
            </a:extLst>
          </p:cNvPr>
          <p:cNvSpPr txBox="1"/>
          <p:nvPr/>
        </p:nvSpPr>
        <p:spPr>
          <a:xfrm>
            <a:off x="618831" y="1456848"/>
            <a:ext cx="1379831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So we 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EE684F-A536-40F4-AF54-E717706535A0}"/>
                  </a:ext>
                </a:extLst>
              </p:cNvPr>
              <p:cNvSpPr txBox="1"/>
              <p:nvPr/>
            </p:nvSpPr>
            <p:spPr>
              <a:xfrm>
                <a:off x="618831" y="1986323"/>
                <a:ext cx="714248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𝑆𝑢𝑚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+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𝑢𝑚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+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𝑢𝑚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+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𝑢𝑚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3∗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EE684F-A536-40F4-AF54-E71770653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31" y="1986323"/>
                <a:ext cx="7142481" cy="369332"/>
              </a:xfrm>
              <a:prstGeom prst="rect">
                <a:avLst/>
              </a:prstGeom>
              <a:blipFill>
                <a:blip r:embed="rId3"/>
                <a:stretch>
                  <a:fillRect l="-1537" t="-26667" b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347D707-D4A9-4F65-B1D6-22CE0B43CCE6}"/>
              </a:ext>
            </a:extLst>
          </p:cNvPr>
          <p:cNvSpPr txBox="1"/>
          <p:nvPr/>
        </p:nvSpPr>
        <p:spPr>
          <a:xfrm>
            <a:off x="453802" y="2908766"/>
            <a:ext cx="9171045" cy="25545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Now we need to make a co-efficient table: basically that will describe all possible bit combination of </a:t>
            </a:r>
            <a:r>
              <a:rPr lang="en-GB" sz="2000" dirty="0" err="1">
                <a:latin typeface="+mn-lt"/>
              </a:rPr>
              <a:t>x</a:t>
            </a:r>
            <a:r>
              <a:rPr lang="en-GB" sz="2000" baseline="-25000" dirty="0" err="1">
                <a:latin typeface="+mn-lt"/>
              </a:rPr>
              <a:t>n</a:t>
            </a:r>
            <a:r>
              <a:rPr lang="en-GB" sz="2000" dirty="0">
                <a:latin typeface="+mn-lt"/>
              </a:rPr>
              <a:t> and the corresponding coefficient to calculate Sum*  </a:t>
            </a:r>
          </a:p>
          <a:p>
            <a:pPr algn="l"/>
            <a:endParaRPr lang="en-GB" sz="2000" dirty="0">
              <a:latin typeface="+mn-lt"/>
            </a:endParaRPr>
          </a:p>
          <a:p>
            <a:pPr algn="l"/>
            <a:r>
              <a:rPr lang="en-GB" sz="2000" dirty="0">
                <a:latin typeface="+mn-lt"/>
              </a:rPr>
              <a:t>We will need 2</a:t>
            </a:r>
            <a:r>
              <a:rPr lang="en-GB" sz="2000" baseline="30000" dirty="0">
                <a:latin typeface="+mn-lt"/>
              </a:rPr>
              <a:t>n</a:t>
            </a:r>
            <a:r>
              <a:rPr lang="en-GB" sz="2000" dirty="0">
                <a:latin typeface="+mn-lt"/>
              </a:rPr>
              <a:t> length coefficient table and therefore in the present case we will need 2</a:t>
            </a:r>
            <a:r>
              <a:rPr lang="en-GB" sz="2000" baseline="30000" dirty="0">
                <a:latin typeface="+mn-lt"/>
              </a:rPr>
              <a:t>4</a:t>
            </a:r>
            <a:r>
              <a:rPr lang="en-GB" sz="2000" dirty="0">
                <a:latin typeface="+mn-lt"/>
              </a:rPr>
              <a:t> length table</a:t>
            </a:r>
          </a:p>
          <a:p>
            <a:pPr algn="l"/>
            <a:endParaRPr lang="en-GB" sz="2000" dirty="0">
              <a:latin typeface="+mn-lt"/>
            </a:endParaRPr>
          </a:p>
          <a:p>
            <a:pPr algn="l"/>
            <a:r>
              <a:rPr lang="en-GB" sz="2000" dirty="0">
                <a:latin typeface="+mn-lt"/>
              </a:rPr>
              <a:t>Let’s make it…… you need to keep an eye on the last equation of the last slide  </a:t>
            </a:r>
          </a:p>
        </p:txBody>
      </p:sp>
    </p:spTree>
    <p:extLst>
      <p:ext uri="{BB962C8B-B14F-4D97-AF65-F5344CB8AC3E}">
        <p14:creationId xmlns:p14="http://schemas.microsoft.com/office/powerpoint/2010/main" val="3067040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A9A09-7E24-48D3-806C-40EA1D18E6E9}" type="slidenum">
              <a:rPr lang="en-GB"/>
              <a:pPr>
                <a:defRPr/>
              </a:pPr>
              <a:t>9</a:t>
            </a:fld>
            <a:endParaRPr lang="en-GB" dirty="0"/>
          </a:p>
        </p:txBody>
      </p:sp>
      <p:sp>
        <p:nvSpPr>
          <p:cNvPr id="97365" name="Rectangle 85"/>
          <p:cNvSpPr>
            <a:spLocks noGrp="1" noChangeArrowheads="1"/>
          </p:cNvSpPr>
          <p:nvPr>
            <p:ph type="title"/>
          </p:nvPr>
        </p:nvSpPr>
        <p:spPr>
          <a:xfrm>
            <a:off x="439738" y="642938"/>
            <a:ext cx="7467600" cy="914400"/>
          </a:xfrm>
        </p:spPr>
        <p:txBody>
          <a:bodyPr lIns="91440" tIns="45720" rIns="91440" bIns="45720"/>
          <a:lstStyle/>
          <a:p>
            <a:pPr>
              <a:defRPr/>
            </a:pPr>
            <a:r>
              <a:rPr lang="en-GB" dirty="0"/>
              <a:t>Distributed Arithmetic (DA)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C585BFB5-9A07-475B-8E6E-A609F306B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541094"/>
              </p:ext>
            </p:extLst>
          </p:nvPr>
        </p:nvGraphicFramePr>
        <p:xfrm>
          <a:off x="920552" y="1406808"/>
          <a:ext cx="676875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382234608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76440944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422244856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380284642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1789596012"/>
                    </a:ext>
                  </a:extLst>
                </a:gridCol>
              </a:tblGrid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X</a:t>
                      </a:r>
                      <a:r>
                        <a:rPr lang="en-GB" sz="1200" baseline="-25000" dirty="0"/>
                        <a:t>0,k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X</a:t>
                      </a:r>
                      <a:r>
                        <a:rPr lang="en-GB" sz="1200" baseline="-25000" dirty="0"/>
                        <a:t>1,k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X</a:t>
                      </a:r>
                      <a:r>
                        <a:rPr lang="en-GB" sz="1200" baseline="-25000" dirty="0"/>
                        <a:t>2,k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X</a:t>
                      </a:r>
                      <a:r>
                        <a:rPr lang="en-GB" sz="1200" baseline="-25000" dirty="0"/>
                        <a:t>3,k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Coefficient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22605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603602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3</a:t>
                      </a:r>
                      <a:r>
                        <a:rPr lang="en-GB" sz="1200" baseline="0" dirty="0"/>
                        <a:t> = 5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0013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2</a:t>
                      </a:r>
                      <a:r>
                        <a:rPr lang="en-GB" sz="1200" baseline="0" dirty="0"/>
                        <a:t> = 4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144707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2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3</a:t>
                      </a:r>
                      <a:r>
                        <a:rPr lang="en-GB" sz="1200" baseline="0" dirty="0"/>
                        <a:t> = 5+4 = 9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702680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1</a:t>
                      </a:r>
                      <a:r>
                        <a:rPr lang="en-GB" sz="1200" baseline="0" dirty="0"/>
                        <a:t> = 3 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820803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1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3</a:t>
                      </a:r>
                      <a:r>
                        <a:rPr lang="en-GB" sz="1200" baseline="0" dirty="0"/>
                        <a:t> = 3+5 = 8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459517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1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2</a:t>
                      </a:r>
                      <a:r>
                        <a:rPr lang="en-GB" sz="1200" baseline="0" dirty="0"/>
                        <a:t> = 3+4 = 7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53371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1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2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3</a:t>
                      </a:r>
                      <a:r>
                        <a:rPr lang="en-GB" sz="1200" baseline="0" dirty="0"/>
                        <a:t> = 3+4+5 = 12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349259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0</a:t>
                      </a:r>
                      <a:r>
                        <a:rPr lang="en-GB" sz="1200" baseline="0" dirty="0"/>
                        <a:t> = 2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244694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0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3</a:t>
                      </a:r>
                      <a:r>
                        <a:rPr lang="en-GB" sz="1200" baseline="0" dirty="0"/>
                        <a:t> = 2+5 = 7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650029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0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2</a:t>
                      </a:r>
                      <a:r>
                        <a:rPr lang="en-GB" sz="1200" baseline="0" dirty="0"/>
                        <a:t> = 2+4 = 6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922947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0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2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3</a:t>
                      </a:r>
                      <a:r>
                        <a:rPr lang="en-GB" sz="1200" baseline="0" dirty="0"/>
                        <a:t> = 2+4+5 = 11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197119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0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1</a:t>
                      </a:r>
                      <a:r>
                        <a:rPr lang="en-GB" sz="1200" baseline="0" dirty="0"/>
                        <a:t> = 2+3 = 5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553023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0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1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3</a:t>
                      </a:r>
                      <a:r>
                        <a:rPr lang="en-GB" sz="1200" baseline="0" dirty="0"/>
                        <a:t> = 2+3+5=10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394695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0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1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2</a:t>
                      </a:r>
                      <a:r>
                        <a:rPr lang="en-GB" sz="1200" baseline="0" dirty="0"/>
                        <a:t> = 2+3+4 = 9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768119"/>
                  </a:ext>
                </a:extLst>
              </a:tr>
              <a:tr h="271137"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aseline="0" dirty="0"/>
                        <a:t>h</a:t>
                      </a:r>
                      <a:r>
                        <a:rPr lang="en-GB" sz="1200" baseline="-25000" dirty="0"/>
                        <a:t>0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1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2</a:t>
                      </a:r>
                      <a:r>
                        <a:rPr lang="en-GB" sz="1200" baseline="0" dirty="0"/>
                        <a:t>+h</a:t>
                      </a:r>
                      <a:r>
                        <a:rPr lang="en-GB" sz="1200" baseline="-25000" dirty="0"/>
                        <a:t>3</a:t>
                      </a:r>
                      <a:r>
                        <a:rPr lang="en-GB" sz="1200" baseline="0" dirty="0"/>
                        <a:t> = 2+3+4+5 = 14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387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451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A9A09-7E24-48D3-806C-40EA1D18E6E9}" type="slidenum">
              <a:rPr lang="en-GB"/>
              <a:pPr>
                <a:defRPr/>
              </a:pPr>
              <a:t>10</a:t>
            </a:fld>
            <a:endParaRPr lang="en-GB" dirty="0"/>
          </a:p>
        </p:txBody>
      </p:sp>
      <p:sp>
        <p:nvSpPr>
          <p:cNvPr id="97365" name="Rectangle 85"/>
          <p:cNvSpPr>
            <a:spLocks noGrp="1" noChangeArrowheads="1"/>
          </p:cNvSpPr>
          <p:nvPr>
            <p:ph type="title"/>
          </p:nvPr>
        </p:nvSpPr>
        <p:spPr>
          <a:xfrm>
            <a:off x="439738" y="642938"/>
            <a:ext cx="7467600" cy="914400"/>
          </a:xfrm>
        </p:spPr>
        <p:txBody>
          <a:bodyPr lIns="91440" tIns="45720" rIns="91440" bIns="45720"/>
          <a:lstStyle/>
          <a:p>
            <a:pPr>
              <a:defRPr/>
            </a:pPr>
            <a:r>
              <a:rPr lang="en-GB" dirty="0"/>
              <a:t>Distributed Arithmetic (DA)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4EF6C-9B55-4978-BE81-F5632C995F10}"/>
              </a:ext>
            </a:extLst>
          </p:cNvPr>
          <p:cNvSpPr txBox="1"/>
          <p:nvPr/>
        </p:nvSpPr>
        <p:spPr>
          <a:xfrm>
            <a:off x="560512" y="1357425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Now let’s see how it 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E01693-3F88-43D1-BFC1-2D0054A4DE79}"/>
                  </a:ext>
                </a:extLst>
              </p:cNvPr>
              <p:cNvSpPr txBox="1"/>
              <p:nvPr/>
            </p:nvSpPr>
            <p:spPr>
              <a:xfrm>
                <a:off x="704528" y="1791246"/>
                <a:ext cx="5783698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E01693-3F88-43D1-BFC1-2D0054A4D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28" y="1791246"/>
                <a:ext cx="5783698" cy="10388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AEF973D-C3FD-4382-B90E-ED093887394B}"/>
              </a:ext>
            </a:extLst>
          </p:cNvPr>
          <p:cNvSpPr txBox="1"/>
          <p:nvPr/>
        </p:nvSpPr>
        <p:spPr>
          <a:xfrm>
            <a:off x="7113240" y="1648931"/>
            <a:ext cx="2376264" cy="132343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Let x</a:t>
            </a:r>
            <a:r>
              <a:rPr lang="en-GB" sz="2000" baseline="-25000" dirty="0">
                <a:latin typeface="+mn-lt"/>
              </a:rPr>
              <a:t>0</a:t>
            </a:r>
            <a:r>
              <a:rPr lang="en-GB" sz="2000" dirty="0">
                <a:latin typeface="+mn-lt"/>
              </a:rPr>
              <a:t> = 10 = 1010</a:t>
            </a:r>
          </a:p>
          <a:p>
            <a:pPr algn="l"/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1</a:t>
            </a:r>
            <a:r>
              <a:rPr lang="en-GB" sz="2000" dirty="0">
                <a:latin typeface="+mn-lt"/>
              </a:rPr>
              <a:t> = 12 = 1100</a:t>
            </a:r>
          </a:p>
          <a:p>
            <a:pPr algn="l"/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2</a:t>
            </a:r>
            <a:r>
              <a:rPr lang="en-GB" sz="2000" dirty="0">
                <a:latin typeface="+mn-lt"/>
              </a:rPr>
              <a:t> = 15 = 1111</a:t>
            </a:r>
          </a:p>
          <a:p>
            <a:pPr algn="l"/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3</a:t>
            </a:r>
            <a:r>
              <a:rPr lang="en-GB" sz="2000" dirty="0">
                <a:latin typeface="+mn-lt"/>
              </a:rPr>
              <a:t> = 11 = 1011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30290-E699-4F48-B0DC-04CDFD99998D}"/>
              </a:ext>
            </a:extLst>
          </p:cNvPr>
          <p:cNvSpPr txBox="1"/>
          <p:nvPr/>
        </p:nvSpPr>
        <p:spPr>
          <a:xfrm>
            <a:off x="662953" y="2980839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y = 2*10+3*12+4*15+5*11 = 171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C3959-4BC6-4525-8C51-82A8CE6A14C8}"/>
              </a:ext>
            </a:extLst>
          </p:cNvPr>
          <p:cNvSpPr txBox="1"/>
          <p:nvPr/>
        </p:nvSpPr>
        <p:spPr>
          <a:xfrm>
            <a:off x="655792" y="3475712"/>
            <a:ext cx="5521344" cy="132343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0,0</a:t>
            </a:r>
            <a:r>
              <a:rPr lang="en-GB" sz="2000" dirty="0">
                <a:latin typeface="+mn-lt"/>
              </a:rPr>
              <a:t> = 0, x</a:t>
            </a:r>
            <a:r>
              <a:rPr lang="en-GB" sz="2000" baseline="-25000" dirty="0">
                <a:latin typeface="+mn-lt"/>
              </a:rPr>
              <a:t>1,0</a:t>
            </a:r>
            <a:r>
              <a:rPr lang="en-GB" sz="2000" dirty="0">
                <a:latin typeface="+mn-lt"/>
              </a:rPr>
              <a:t> = 0, x</a:t>
            </a:r>
            <a:r>
              <a:rPr lang="en-GB" sz="2000" baseline="-25000" dirty="0">
                <a:latin typeface="+mn-lt"/>
              </a:rPr>
              <a:t>2,0</a:t>
            </a:r>
            <a:r>
              <a:rPr lang="en-GB" sz="2000" dirty="0">
                <a:latin typeface="+mn-lt"/>
              </a:rPr>
              <a:t> = 1, x</a:t>
            </a:r>
            <a:r>
              <a:rPr lang="en-GB" sz="2000" baseline="-25000" dirty="0">
                <a:latin typeface="+mn-lt"/>
              </a:rPr>
              <a:t>3,0</a:t>
            </a:r>
            <a:r>
              <a:rPr lang="en-GB" sz="2000" dirty="0">
                <a:latin typeface="+mn-lt"/>
              </a:rPr>
              <a:t> = 1; Sum0 = 9</a:t>
            </a:r>
          </a:p>
          <a:p>
            <a:pPr algn="l"/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0,1</a:t>
            </a:r>
            <a:r>
              <a:rPr lang="en-GB" sz="2000" dirty="0">
                <a:latin typeface="+mn-lt"/>
              </a:rPr>
              <a:t> = 1, x</a:t>
            </a:r>
            <a:r>
              <a:rPr lang="en-GB" sz="2000" baseline="-25000" dirty="0">
                <a:latin typeface="+mn-lt"/>
              </a:rPr>
              <a:t>1,1</a:t>
            </a:r>
            <a:r>
              <a:rPr lang="en-GB" sz="2000" dirty="0">
                <a:latin typeface="+mn-lt"/>
              </a:rPr>
              <a:t> = 0, x</a:t>
            </a:r>
            <a:r>
              <a:rPr lang="en-GB" sz="2000" baseline="-25000" dirty="0">
                <a:latin typeface="+mn-lt"/>
              </a:rPr>
              <a:t>2,1</a:t>
            </a:r>
            <a:r>
              <a:rPr lang="en-GB" sz="2000" dirty="0">
                <a:latin typeface="+mn-lt"/>
              </a:rPr>
              <a:t> = 1, x</a:t>
            </a:r>
            <a:r>
              <a:rPr lang="en-GB" sz="2000" baseline="-25000" dirty="0">
                <a:latin typeface="+mn-lt"/>
              </a:rPr>
              <a:t>3,1</a:t>
            </a:r>
            <a:r>
              <a:rPr lang="en-GB" sz="2000" dirty="0">
                <a:latin typeface="+mn-lt"/>
              </a:rPr>
              <a:t> = 1; Sum1 = 11</a:t>
            </a:r>
          </a:p>
          <a:p>
            <a:pPr algn="l"/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0,2</a:t>
            </a:r>
            <a:r>
              <a:rPr lang="en-GB" sz="2000" dirty="0">
                <a:latin typeface="+mn-lt"/>
              </a:rPr>
              <a:t> = 0, x</a:t>
            </a:r>
            <a:r>
              <a:rPr lang="en-GB" sz="2000" baseline="-25000" dirty="0">
                <a:latin typeface="+mn-lt"/>
              </a:rPr>
              <a:t>1,2</a:t>
            </a:r>
            <a:r>
              <a:rPr lang="en-GB" sz="2000" dirty="0">
                <a:latin typeface="+mn-lt"/>
              </a:rPr>
              <a:t> = 1, x</a:t>
            </a:r>
            <a:r>
              <a:rPr lang="en-GB" sz="2000" baseline="-25000" dirty="0">
                <a:latin typeface="+mn-lt"/>
              </a:rPr>
              <a:t>2,2</a:t>
            </a:r>
            <a:r>
              <a:rPr lang="en-GB" sz="2000" dirty="0">
                <a:latin typeface="+mn-lt"/>
              </a:rPr>
              <a:t> = 1, x</a:t>
            </a:r>
            <a:r>
              <a:rPr lang="en-GB" sz="2000" baseline="-25000" dirty="0">
                <a:latin typeface="+mn-lt"/>
              </a:rPr>
              <a:t>3,2</a:t>
            </a:r>
            <a:r>
              <a:rPr lang="en-GB" sz="2000" dirty="0">
                <a:latin typeface="+mn-lt"/>
              </a:rPr>
              <a:t> = 0; Sum2 = 7</a:t>
            </a:r>
          </a:p>
          <a:p>
            <a:pPr algn="l"/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0,3</a:t>
            </a:r>
            <a:r>
              <a:rPr lang="en-GB" sz="2000" dirty="0">
                <a:latin typeface="+mn-lt"/>
              </a:rPr>
              <a:t> = 1, x</a:t>
            </a:r>
            <a:r>
              <a:rPr lang="en-GB" sz="2000" baseline="-25000" dirty="0">
                <a:latin typeface="+mn-lt"/>
              </a:rPr>
              <a:t>1,3</a:t>
            </a:r>
            <a:r>
              <a:rPr lang="en-GB" sz="2000" dirty="0">
                <a:latin typeface="+mn-lt"/>
              </a:rPr>
              <a:t> = 0, x</a:t>
            </a:r>
            <a:r>
              <a:rPr lang="en-GB" sz="2000" baseline="-25000" dirty="0">
                <a:latin typeface="+mn-lt"/>
              </a:rPr>
              <a:t>2,3</a:t>
            </a:r>
            <a:r>
              <a:rPr lang="en-GB" sz="2000" dirty="0">
                <a:latin typeface="+mn-lt"/>
              </a:rPr>
              <a:t> = 1, x</a:t>
            </a:r>
            <a:r>
              <a:rPr lang="en-GB" sz="2000" baseline="-25000" dirty="0">
                <a:latin typeface="+mn-lt"/>
              </a:rPr>
              <a:t>3,3</a:t>
            </a:r>
            <a:r>
              <a:rPr lang="en-GB" sz="2000" dirty="0">
                <a:latin typeface="+mn-lt"/>
              </a:rPr>
              <a:t> = 1; Sum3 = 14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A1627D-527A-48A2-8A36-ECCE201BD8E4}"/>
              </a:ext>
            </a:extLst>
          </p:cNvPr>
          <p:cNvSpPr txBox="1"/>
          <p:nvPr/>
        </p:nvSpPr>
        <p:spPr>
          <a:xfrm>
            <a:off x="562106" y="5044696"/>
            <a:ext cx="8927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y = Sum0*2</a:t>
            </a:r>
            <a:r>
              <a:rPr lang="en-GB" sz="2000" baseline="30000" dirty="0">
                <a:latin typeface="+mn-lt"/>
              </a:rPr>
              <a:t>0</a:t>
            </a:r>
            <a:r>
              <a:rPr lang="en-GB" sz="2000" dirty="0">
                <a:latin typeface="+mn-lt"/>
              </a:rPr>
              <a:t> + Sum1*2</a:t>
            </a:r>
            <a:r>
              <a:rPr lang="en-GB" sz="2000" baseline="30000" dirty="0">
                <a:latin typeface="+mn-lt"/>
              </a:rPr>
              <a:t>1</a:t>
            </a:r>
            <a:r>
              <a:rPr lang="en-GB" sz="2000" dirty="0">
                <a:latin typeface="+mn-lt"/>
              </a:rPr>
              <a:t> + Sum2*2</a:t>
            </a:r>
            <a:r>
              <a:rPr lang="en-GB" sz="2000" baseline="30000" dirty="0">
                <a:latin typeface="+mn-lt"/>
              </a:rPr>
              <a:t>2</a:t>
            </a:r>
            <a:r>
              <a:rPr lang="en-GB" sz="2000" dirty="0">
                <a:latin typeface="+mn-lt"/>
              </a:rPr>
              <a:t> + Sum3*2</a:t>
            </a:r>
            <a:r>
              <a:rPr lang="en-GB" sz="2000" baseline="30000" dirty="0">
                <a:latin typeface="+mn-lt"/>
              </a:rPr>
              <a:t>3</a:t>
            </a:r>
            <a:r>
              <a:rPr lang="en-GB" sz="2000" dirty="0">
                <a:latin typeface="+mn-lt"/>
              </a:rPr>
              <a:t> = 9 +11*2 +7*4+14*8 = 171 </a:t>
            </a:r>
          </a:p>
        </p:txBody>
      </p:sp>
    </p:spTree>
    <p:extLst>
      <p:ext uri="{BB962C8B-B14F-4D97-AF65-F5344CB8AC3E}">
        <p14:creationId xmlns:p14="http://schemas.microsoft.com/office/powerpoint/2010/main" val="3603194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A9A09-7E24-48D3-806C-40EA1D18E6E9}" type="slidenum">
              <a:rPr lang="en-GB"/>
              <a:pPr>
                <a:defRPr/>
              </a:pPr>
              <a:t>11</a:t>
            </a:fld>
            <a:endParaRPr lang="en-GB" dirty="0"/>
          </a:p>
        </p:txBody>
      </p:sp>
      <p:sp>
        <p:nvSpPr>
          <p:cNvPr id="97365" name="Rectangle 85"/>
          <p:cNvSpPr>
            <a:spLocks noGrp="1" noChangeArrowheads="1"/>
          </p:cNvSpPr>
          <p:nvPr>
            <p:ph type="title"/>
          </p:nvPr>
        </p:nvSpPr>
        <p:spPr>
          <a:xfrm>
            <a:off x="439738" y="642938"/>
            <a:ext cx="7467600" cy="914400"/>
          </a:xfrm>
        </p:spPr>
        <p:txBody>
          <a:bodyPr lIns="91440" tIns="45720" rIns="91440" bIns="45720"/>
          <a:lstStyle/>
          <a:p>
            <a:pPr>
              <a:defRPr/>
            </a:pPr>
            <a:r>
              <a:rPr lang="en-GB" dirty="0"/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4EF6C-9B55-4978-BE81-F5632C995F10}"/>
              </a:ext>
            </a:extLst>
          </p:cNvPr>
          <p:cNvSpPr txBox="1"/>
          <p:nvPr/>
        </p:nvSpPr>
        <p:spPr>
          <a:xfrm>
            <a:off x="560512" y="135742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Serial implementation: LSB first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E7D4F8-78C3-4386-8944-6643D32E25BF}"/>
              </a:ext>
            </a:extLst>
          </p:cNvPr>
          <p:cNvSpPr txBox="1"/>
          <p:nvPr/>
        </p:nvSpPr>
        <p:spPr>
          <a:xfrm>
            <a:off x="1150571" y="1902493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0,3</a:t>
            </a:r>
            <a:endParaRPr lang="en-GB" sz="2000" dirty="0">
              <a:latin typeface="+mn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C6C1EE-0551-4809-A809-229A62D78537}"/>
              </a:ext>
            </a:extLst>
          </p:cNvPr>
          <p:cNvSpPr txBox="1"/>
          <p:nvPr/>
        </p:nvSpPr>
        <p:spPr>
          <a:xfrm>
            <a:off x="1691748" y="1905603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0,2</a:t>
            </a:r>
            <a:endParaRPr lang="en-GB" sz="2000" dirty="0">
              <a:latin typeface="+mn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D1B162-4E45-400B-950F-34D29D8F414F}"/>
              </a:ext>
            </a:extLst>
          </p:cNvPr>
          <p:cNvSpPr txBox="1"/>
          <p:nvPr/>
        </p:nvSpPr>
        <p:spPr>
          <a:xfrm>
            <a:off x="2242254" y="1902493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0,1</a:t>
            </a:r>
            <a:endParaRPr lang="en-GB" sz="2000" dirty="0">
              <a:latin typeface="+mn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7BACC1-C537-47C2-89CE-CF102C3FA514}"/>
              </a:ext>
            </a:extLst>
          </p:cNvPr>
          <p:cNvSpPr txBox="1"/>
          <p:nvPr/>
        </p:nvSpPr>
        <p:spPr>
          <a:xfrm>
            <a:off x="2792760" y="1902493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0,0</a:t>
            </a:r>
            <a:endParaRPr lang="en-GB" sz="2000" dirty="0">
              <a:latin typeface="+mn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386B56-0D67-4A2C-837B-DF64974DA14A}"/>
              </a:ext>
            </a:extLst>
          </p:cNvPr>
          <p:cNvSpPr txBox="1"/>
          <p:nvPr/>
        </p:nvSpPr>
        <p:spPr>
          <a:xfrm>
            <a:off x="1150571" y="2636912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1,3</a:t>
            </a:r>
            <a:endParaRPr lang="en-GB" sz="2000" dirty="0">
              <a:latin typeface="+mn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01395B-2A66-4710-946F-F8C30C3856C2}"/>
              </a:ext>
            </a:extLst>
          </p:cNvPr>
          <p:cNvSpPr txBox="1"/>
          <p:nvPr/>
        </p:nvSpPr>
        <p:spPr>
          <a:xfrm>
            <a:off x="1691748" y="2640022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1,2</a:t>
            </a:r>
            <a:endParaRPr lang="en-GB" sz="2000" dirty="0">
              <a:latin typeface="+mn-l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6FED20-DE29-4C7D-BC6C-165CE2541596}"/>
              </a:ext>
            </a:extLst>
          </p:cNvPr>
          <p:cNvSpPr txBox="1"/>
          <p:nvPr/>
        </p:nvSpPr>
        <p:spPr>
          <a:xfrm>
            <a:off x="2242254" y="2636912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1,1</a:t>
            </a:r>
            <a:endParaRPr lang="en-GB" sz="2000" dirty="0">
              <a:latin typeface="+mn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D08E78-21E0-47F1-B3A7-DCB5BFE47C4C}"/>
              </a:ext>
            </a:extLst>
          </p:cNvPr>
          <p:cNvSpPr txBox="1"/>
          <p:nvPr/>
        </p:nvSpPr>
        <p:spPr>
          <a:xfrm>
            <a:off x="2792760" y="2636912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1,0</a:t>
            </a:r>
            <a:endParaRPr lang="en-GB" sz="2000" dirty="0">
              <a:latin typeface="+mn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82CA15-6BD4-4E1C-952D-7B1C9A18EBC0}"/>
              </a:ext>
            </a:extLst>
          </p:cNvPr>
          <p:cNvSpPr txBox="1"/>
          <p:nvPr/>
        </p:nvSpPr>
        <p:spPr>
          <a:xfrm>
            <a:off x="1150571" y="3482380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2,3</a:t>
            </a:r>
            <a:endParaRPr lang="en-GB" sz="2000" dirty="0">
              <a:latin typeface="+mn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503509-8812-4765-9710-7724F1DC7912}"/>
              </a:ext>
            </a:extLst>
          </p:cNvPr>
          <p:cNvSpPr txBox="1"/>
          <p:nvPr/>
        </p:nvSpPr>
        <p:spPr>
          <a:xfrm>
            <a:off x="1691748" y="3485490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2,2</a:t>
            </a:r>
            <a:endParaRPr lang="en-GB" sz="2000" dirty="0">
              <a:latin typeface="+mn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C8C047-74F2-4B92-9A33-28F2BCF80009}"/>
              </a:ext>
            </a:extLst>
          </p:cNvPr>
          <p:cNvSpPr txBox="1"/>
          <p:nvPr/>
        </p:nvSpPr>
        <p:spPr>
          <a:xfrm>
            <a:off x="2242254" y="3482380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2,1</a:t>
            </a:r>
            <a:endParaRPr lang="en-GB" sz="2000" dirty="0">
              <a:latin typeface="+mn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77211E-7240-41C0-9F4D-2BA80B7389AE}"/>
              </a:ext>
            </a:extLst>
          </p:cNvPr>
          <p:cNvSpPr txBox="1"/>
          <p:nvPr/>
        </p:nvSpPr>
        <p:spPr>
          <a:xfrm>
            <a:off x="2792760" y="3482380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2,0</a:t>
            </a:r>
            <a:endParaRPr lang="en-GB" sz="2000" dirty="0">
              <a:latin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090E6F-3B18-4EA0-AB49-390AFD652724}"/>
              </a:ext>
            </a:extLst>
          </p:cNvPr>
          <p:cNvSpPr txBox="1"/>
          <p:nvPr/>
        </p:nvSpPr>
        <p:spPr>
          <a:xfrm>
            <a:off x="1150571" y="4216799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3,3</a:t>
            </a:r>
            <a:endParaRPr lang="en-GB" sz="2000" dirty="0">
              <a:latin typeface="+mn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AC98C2-4593-4454-A108-DCC0901B5EE8}"/>
              </a:ext>
            </a:extLst>
          </p:cNvPr>
          <p:cNvSpPr txBox="1"/>
          <p:nvPr/>
        </p:nvSpPr>
        <p:spPr>
          <a:xfrm>
            <a:off x="1691748" y="4219909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3,2</a:t>
            </a:r>
            <a:endParaRPr lang="en-GB" sz="2000" dirty="0">
              <a:latin typeface="+mn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CAB041-8F06-42B9-BEC4-6902E1925408}"/>
              </a:ext>
            </a:extLst>
          </p:cNvPr>
          <p:cNvSpPr txBox="1"/>
          <p:nvPr/>
        </p:nvSpPr>
        <p:spPr>
          <a:xfrm>
            <a:off x="2242254" y="4216799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3,1</a:t>
            </a:r>
            <a:endParaRPr lang="en-GB" sz="2000" dirty="0">
              <a:latin typeface="+mn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E6F4BE-E86E-4E3C-9C9B-367E70329D0B}"/>
              </a:ext>
            </a:extLst>
          </p:cNvPr>
          <p:cNvSpPr txBox="1"/>
          <p:nvPr/>
        </p:nvSpPr>
        <p:spPr>
          <a:xfrm>
            <a:off x="2792760" y="4216799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3,0</a:t>
            </a:r>
            <a:endParaRPr lang="en-GB" sz="2000" dirty="0">
              <a:latin typeface="+mn-lt"/>
            </a:endParaRPr>
          </a:p>
        </p:txBody>
      </p:sp>
      <p:sp>
        <p:nvSpPr>
          <p:cNvPr id="57" name="Arrow: Up-Down 56">
            <a:extLst>
              <a:ext uri="{FF2B5EF4-FFF2-40B4-BE49-F238E27FC236}">
                <a16:creationId xmlns:a16="http://schemas.microsoft.com/office/drawing/2014/main" id="{AC56415B-25B8-4767-88E3-A13F6FF08930}"/>
              </a:ext>
            </a:extLst>
          </p:cNvPr>
          <p:cNvSpPr/>
          <p:nvPr/>
        </p:nvSpPr>
        <p:spPr bwMode="auto">
          <a:xfrm>
            <a:off x="3944888" y="1757535"/>
            <a:ext cx="1080120" cy="3255641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53740A-B420-4240-9148-0E4A78F56E06}"/>
              </a:ext>
            </a:extLst>
          </p:cNvPr>
          <p:cNvSpPr txBox="1"/>
          <p:nvPr/>
        </p:nvSpPr>
        <p:spPr>
          <a:xfrm>
            <a:off x="3644077" y="5100466"/>
            <a:ext cx="1681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Address bus</a:t>
            </a: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AE27B97F-A855-41C4-9072-A52200E3A6F8}"/>
              </a:ext>
            </a:extLst>
          </p:cNvPr>
          <p:cNvSpPr/>
          <p:nvPr/>
        </p:nvSpPr>
        <p:spPr bwMode="auto">
          <a:xfrm>
            <a:off x="3512840" y="2812866"/>
            <a:ext cx="648072" cy="40011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4CC9EB-B827-4D89-841F-DA1D81D73BA2}"/>
              </a:ext>
            </a:extLst>
          </p:cNvPr>
          <p:cNvSpPr txBox="1"/>
          <p:nvPr/>
        </p:nvSpPr>
        <p:spPr>
          <a:xfrm>
            <a:off x="5427473" y="2356104"/>
            <a:ext cx="224381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Coefficient table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2CF699B4-4783-48E6-9AF7-B0B85A818848}"/>
              </a:ext>
            </a:extLst>
          </p:cNvPr>
          <p:cNvSpPr/>
          <p:nvPr/>
        </p:nvSpPr>
        <p:spPr bwMode="auto">
          <a:xfrm>
            <a:off x="4779401" y="2356104"/>
            <a:ext cx="648072" cy="40011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2443E5A-7C2A-467C-8ED4-FF2CC8E5C414}"/>
              </a:ext>
            </a:extLst>
          </p:cNvPr>
          <p:cNvSpPr>
            <a:spLocks noChangeAspect="1"/>
          </p:cNvSpPr>
          <p:nvPr/>
        </p:nvSpPr>
        <p:spPr bwMode="auto">
          <a:xfrm>
            <a:off x="5961112" y="3429000"/>
            <a:ext cx="1008112" cy="1008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2836EA-5DB8-4602-832D-1C84A3CF3644}"/>
              </a:ext>
            </a:extLst>
          </p:cNvPr>
          <p:cNvSpPr txBox="1"/>
          <p:nvPr/>
        </p:nvSpPr>
        <p:spPr>
          <a:xfrm>
            <a:off x="6105128" y="3421337"/>
            <a:ext cx="7200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latin typeface="+mn-lt"/>
              </a:rPr>
              <a:t>+</a:t>
            </a:r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59D1A018-EAFD-49FD-ACA5-971709CB8463}"/>
              </a:ext>
            </a:extLst>
          </p:cNvPr>
          <p:cNvSpPr/>
          <p:nvPr/>
        </p:nvSpPr>
        <p:spPr bwMode="auto">
          <a:xfrm rot="19789433">
            <a:off x="5906417" y="2790791"/>
            <a:ext cx="288032" cy="74846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CD0BB714-755F-4DE7-94C2-973A3D04BFFA}"/>
              </a:ext>
            </a:extLst>
          </p:cNvPr>
          <p:cNvSpPr/>
          <p:nvPr/>
        </p:nvSpPr>
        <p:spPr bwMode="auto">
          <a:xfrm>
            <a:off x="6969224" y="3909571"/>
            <a:ext cx="694522" cy="28803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8B721FB-4433-4050-9EDF-A33BC7E562DE}"/>
              </a:ext>
            </a:extLst>
          </p:cNvPr>
          <p:cNvSpPr txBox="1"/>
          <p:nvPr/>
        </p:nvSpPr>
        <p:spPr>
          <a:xfrm>
            <a:off x="7684012" y="3437139"/>
            <a:ext cx="115742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Variable shifter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CB9C940-EEA2-4DA2-B53B-37DFFA19A805}"/>
              </a:ext>
            </a:extLst>
          </p:cNvPr>
          <p:cNvSpPr txBox="1"/>
          <p:nvPr/>
        </p:nvSpPr>
        <p:spPr>
          <a:xfrm>
            <a:off x="7697415" y="4437000"/>
            <a:ext cx="115742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Counter</a:t>
            </a:r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47912188-B35A-4DDF-A34E-C34B2C485AAE}"/>
              </a:ext>
            </a:extLst>
          </p:cNvPr>
          <p:cNvSpPr/>
          <p:nvPr/>
        </p:nvSpPr>
        <p:spPr bwMode="auto">
          <a:xfrm rot="10800000">
            <a:off x="8121352" y="4145025"/>
            <a:ext cx="288032" cy="29197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5" name="Arrow: Down 74">
            <a:extLst>
              <a:ext uri="{FF2B5EF4-FFF2-40B4-BE49-F238E27FC236}">
                <a16:creationId xmlns:a16="http://schemas.microsoft.com/office/drawing/2014/main" id="{C601BB20-B733-4AF1-8962-4AF096FC9EC8}"/>
              </a:ext>
            </a:extLst>
          </p:cNvPr>
          <p:cNvSpPr/>
          <p:nvPr/>
        </p:nvSpPr>
        <p:spPr bwMode="auto">
          <a:xfrm rot="5400000">
            <a:off x="7118997" y="3193208"/>
            <a:ext cx="288032" cy="81654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A6E790B7-07A9-48CF-8361-35525A42DB86}"/>
              </a:ext>
            </a:extLst>
          </p:cNvPr>
          <p:cNvSpPr/>
          <p:nvPr/>
        </p:nvSpPr>
        <p:spPr bwMode="auto">
          <a:xfrm>
            <a:off x="6333931" y="4437000"/>
            <a:ext cx="288032" cy="74846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FFE592F-C652-48B4-B62F-82EE71925017}"/>
              </a:ext>
            </a:extLst>
          </p:cNvPr>
          <p:cNvSpPr txBox="1"/>
          <p:nvPr/>
        </p:nvSpPr>
        <p:spPr>
          <a:xfrm>
            <a:off x="5708507" y="5174989"/>
            <a:ext cx="1681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Result out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278D57E-A462-4A09-879B-D1B2F651198E}"/>
              </a:ext>
            </a:extLst>
          </p:cNvPr>
          <p:cNvSpPr txBox="1"/>
          <p:nvPr/>
        </p:nvSpPr>
        <p:spPr>
          <a:xfrm>
            <a:off x="2155445" y="5668397"/>
            <a:ext cx="6120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Variable shifters are wire-dominated circuits</a:t>
            </a:r>
          </a:p>
        </p:txBody>
      </p:sp>
    </p:spTree>
    <p:extLst>
      <p:ext uri="{BB962C8B-B14F-4D97-AF65-F5344CB8AC3E}">
        <p14:creationId xmlns:p14="http://schemas.microsoft.com/office/powerpoint/2010/main" val="3909024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A9A09-7E24-48D3-806C-40EA1D18E6E9}" type="slidenum">
              <a:rPr lang="en-GB"/>
              <a:pPr>
                <a:defRPr/>
              </a:pPr>
              <a:t>12</a:t>
            </a:fld>
            <a:endParaRPr lang="en-GB" dirty="0"/>
          </a:p>
        </p:txBody>
      </p:sp>
      <p:sp>
        <p:nvSpPr>
          <p:cNvPr id="97365" name="Rectangle 85"/>
          <p:cNvSpPr>
            <a:spLocks noGrp="1" noChangeArrowheads="1"/>
          </p:cNvSpPr>
          <p:nvPr>
            <p:ph type="title"/>
          </p:nvPr>
        </p:nvSpPr>
        <p:spPr>
          <a:xfrm>
            <a:off x="439738" y="642938"/>
            <a:ext cx="7467600" cy="914400"/>
          </a:xfrm>
        </p:spPr>
        <p:txBody>
          <a:bodyPr lIns="91440" tIns="45720" rIns="91440" bIns="45720"/>
          <a:lstStyle/>
          <a:p>
            <a:pPr>
              <a:defRPr/>
            </a:pPr>
            <a:r>
              <a:rPr lang="en-GB" dirty="0"/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4EF6C-9B55-4978-BE81-F5632C995F10}"/>
              </a:ext>
            </a:extLst>
          </p:cNvPr>
          <p:cNvSpPr txBox="1"/>
          <p:nvPr/>
        </p:nvSpPr>
        <p:spPr>
          <a:xfrm>
            <a:off x="560512" y="135742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Serial implementation: MSB first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E7D4F8-78C3-4386-8944-6643D32E25BF}"/>
              </a:ext>
            </a:extLst>
          </p:cNvPr>
          <p:cNvSpPr txBox="1"/>
          <p:nvPr/>
        </p:nvSpPr>
        <p:spPr>
          <a:xfrm>
            <a:off x="1150571" y="1902493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0,0</a:t>
            </a:r>
            <a:endParaRPr lang="en-GB" sz="2000" dirty="0">
              <a:latin typeface="+mn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C6C1EE-0551-4809-A809-229A62D78537}"/>
              </a:ext>
            </a:extLst>
          </p:cNvPr>
          <p:cNvSpPr txBox="1"/>
          <p:nvPr/>
        </p:nvSpPr>
        <p:spPr>
          <a:xfrm>
            <a:off x="1691748" y="1905603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0,1</a:t>
            </a:r>
            <a:endParaRPr lang="en-GB" sz="2000" dirty="0">
              <a:latin typeface="+mn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D1B162-4E45-400B-950F-34D29D8F414F}"/>
              </a:ext>
            </a:extLst>
          </p:cNvPr>
          <p:cNvSpPr txBox="1"/>
          <p:nvPr/>
        </p:nvSpPr>
        <p:spPr>
          <a:xfrm>
            <a:off x="2242254" y="1902493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0,2</a:t>
            </a:r>
            <a:endParaRPr lang="en-GB" sz="2000" dirty="0">
              <a:latin typeface="+mn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7BACC1-C537-47C2-89CE-CF102C3FA514}"/>
              </a:ext>
            </a:extLst>
          </p:cNvPr>
          <p:cNvSpPr txBox="1"/>
          <p:nvPr/>
        </p:nvSpPr>
        <p:spPr>
          <a:xfrm>
            <a:off x="2792760" y="1902493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0,3</a:t>
            </a:r>
            <a:endParaRPr lang="en-GB" sz="2000" dirty="0">
              <a:latin typeface="+mn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386B56-0D67-4A2C-837B-DF64974DA14A}"/>
              </a:ext>
            </a:extLst>
          </p:cNvPr>
          <p:cNvSpPr txBox="1"/>
          <p:nvPr/>
        </p:nvSpPr>
        <p:spPr>
          <a:xfrm>
            <a:off x="1150571" y="2636912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1,0</a:t>
            </a:r>
            <a:endParaRPr lang="en-GB" sz="2000" dirty="0">
              <a:latin typeface="+mn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01395B-2A66-4710-946F-F8C30C3856C2}"/>
              </a:ext>
            </a:extLst>
          </p:cNvPr>
          <p:cNvSpPr txBox="1"/>
          <p:nvPr/>
        </p:nvSpPr>
        <p:spPr>
          <a:xfrm>
            <a:off x="1691748" y="2640022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1,1</a:t>
            </a:r>
            <a:endParaRPr lang="en-GB" sz="2000" dirty="0">
              <a:latin typeface="+mn-l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6FED20-DE29-4C7D-BC6C-165CE2541596}"/>
              </a:ext>
            </a:extLst>
          </p:cNvPr>
          <p:cNvSpPr txBox="1"/>
          <p:nvPr/>
        </p:nvSpPr>
        <p:spPr>
          <a:xfrm>
            <a:off x="2242254" y="2636912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1,2</a:t>
            </a:r>
            <a:endParaRPr lang="en-GB" sz="2000" dirty="0">
              <a:latin typeface="+mn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D08E78-21E0-47F1-B3A7-DCB5BFE47C4C}"/>
              </a:ext>
            </a:extLst>
          </p:cNvPr>
          <p:cNvSpPr txBox="1"/>
          <p:nvPr/>
        </p:nvSpPr>
        <p:spPr>
          <a:xfrm>
            <a:off x="2792760" y="2636912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1,3</a:t>
            </a:r>
            <a:endParaRPr lang="en-GB" sz="2000" dirty="0">
              <a:latin typeface="+mn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82CA15-6BD4-4E1C-952D-7B1C9A18EBC0}"/>
              </a:ext>
            </a:extLst>
          </p:cNvPr>
          <p:cNvSpPr txBox="1"/>
          <p:nvPr/>
        </p:nvSpPr>
        <p:spPr>
          <a:xfrm>
            <a:off x="1150571" y="3482380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2,0</a:t>
            </a:r>
            <a:endParaRPr lang="en-GB" sz="2000" dirty="0">
              <a:latin typeface="+mn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503509-8812-4765-9710-7724F1DC7912}"/>
              </a:ext>
            </a:extLst>
          </p:cNvPr>
          <p:cNvSpPr txBox="1"/>
          <p:nvPr/>
        </p:nvSpPr>
        <p:spPr>
          <a:xfrm>
            <a:off x="1691748" y="3485490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2,1</a:t>
            </a:r>
            <a:endParaRPr lang="en-GB" sz="2000" dirty="0">
              <a:latin typeface="+mn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C8C047-74F2-4B92-9A33-28F2BCF80009}"/>
              </a:ext>
            </a:extLst>
          </p:cNvPr>
          <p:cNvSpPr txBox="1"/>
          <p:nvPr/>
        </p:nvSpPr>
        <p:spPr>
          <a:xfrm>
            <a:off x="2242254" y="3482380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2,2</a:t>
            </a:r>
            <a:endParaRPr lang="en-GB" sz="2000" dirty="0">
              <a:latin typeface="+mn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77211E-7240-41C0-9F4D-2BA80B7389AE}"/>
              </a:ext>
            </a:extLst>
          </p:cNvPr>
          <p:cNvSpPr txBox="1"/>
          <p:nvPr/>
        </p:nvSpPr>
        <p:spPr>
          <a:xfrm>
            <a:off x="2792760" y="3482380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2,3</a:t>
            </a:r>
            <a:endParaRPr lang="en-GB" sz="2000" dirty="0">
              <a:latin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090E6F-3B18-4EA0-AB49-390AFD652724}"/>
              </a:ext>
            </a:extLst>
          </p:cNvPr>
          <p:cNvSpPr txBox="1"/>
          <p:nvPr/>
        </p:nvSpPr>
        <p:spPr>
          <a:xfrm>
            <a:off x="1150571" y="4216799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3,0</a:t>
            </a:r>
            <a:endParaRPr lang="en-GB" sz="2000" dirty="0">
              <a:latin typeface="+mn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AC98C2-4593-4454-A108-DCC0901B5EE8}"/>
              </a:ext>
            </a:extLst>
          </p:cNvPr>
          <p:cNvSpPr txBox="1"/>
          <p:nvPr/>
        </p:nvSpPr>
        <p:spPr>
          <a:xfrm>
            <a:off x="1691748" y="4219909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3,1</a:t>
            </a:r>
            <a:endParaRPr lang="en-GB" sz="2000" dirty="0">
              <a:latin typeface="+mn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CAB041-8F06-42B9-BEC4-6902E1925408}"/>
              </a:ext>
            </a:extLst>
          </p:cNvPr>
          <p:cNvSpPr txBox="1"/>
          <p:nvPr/>
        </p:nvSpPr>
        <p:spPr>
          <a:xfrm>
            <a:off x="2242254" y="4216799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3,2</a:t>
            </a:r>
            <a:endParaRPr lang="en-GB" sz="2000" dirty="0">
              <a:latin typeface="+mn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E6F4BE-E86E-4E3C-9C9B-367E70329D0B}"/>
              </a:ext>
            </a:extLst>
          </p:cNvPr>
          <p:cNvSpPr txBox="1"/>
          <p:nvPr/>
        </p:nvSpPr>
        <p:spPr>
          <a:xfrm>
            <a:off x="2792760" y="4216799"/>
            <a:ext cx="550506" cy="40011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n-lt"/>
              </a:rPr>
              <a:t>x</a:t>
            </a:r>
            <a:r>
              <a:rPr lang="en-GB" sz="2000" baseline="-25000" dirty="0">
                <a:latin typeface="+mn-lt"/>
              </a:rPr>
              <a:t>3,3</a:t>
            </a:r>
            <a:endParaRPr lang="en-GB" sz="2000" dirty="0">
              <a:latin typeface="+mn-lt"/>
            </a:endParaRPr>
          </a:p>
        </p:txBody>
      </p:sp>
      <p:sp>
        <p:nvSpPr>
          <p:cNvPr id="57" name="Arrow: Up-Down 56">
            <a:extLst>
              <a:ext uri="{FF2B5EF4-FFF2-40B4-BE49-F238E27FC236}">
                <a16:creationId xmlns:a16="http://schemas.microsoft.com/office/drawing/2014/main" id="{AC56415B-25B8-4767-88E3-A13F6FF08930}"/>
              </a:ext>
            </a:extLst>
          </p:cNvPr>
          <p:cNvSpPr/>
          <p:nvPr/>
        </p:nvSpPr>
        <p:spPr bwMode="auto">
          <a:xfrm>
            <a:off x="3944888" y="1757535"/>
            <a:ext cx="1080120" cy="3255641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53740A-B420-4240-9148-0E4A78F56E06}"/>
              </a:ext>
            </a:extLst>
          </p:cNvPr>
          <p:cNvSpPr txBox="1"/>
          <p:nvPr/>
        </p:nvSpPr>
        <p:spPr>
          <a:xfrm>
            <a:off x="3644077" y="5100466"/>
            <a:ext cx="1681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Address bus</a:t>
            </a: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AE27B97F-A855-41C4-9072-A52200E3A6F8}"/>
              </a:ext>
            </a:extLst>
          </p:cNvPr>
          <p:cNvSpPr/>
          <p:nvPr/>
        </p:nvSpPr>
        <p:spPr bwMode="auto">
          <a:xfrm>
            <a:off x="3512840" y="2812866"/>
            <a:ext cx="648072" cy="40011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4CC9EB-B827-4D89-841F-DA1D81D73BA2}"/>
              </a:ext>
            </a:extLst>
          </p:cNvPr>
          <p:cNvSpPr txBox="1"/>
          <p:nvPr/>
        </p:nvSpPr>
        <p:spPr>
          <a:xfrm>
            <a:off x="5427473" y="2356104"/>
            <a:ext cx="224381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Coefficient table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2CF699B4-4783-48E6-9AF7-B0B85A818848}"/>
              </a:ext>
            </a:extLst>
          </p:cNvPr>
          <p:cNvSpPr/>
          <p:nvPr/>
        </p:nvSpPr>
        <p:spPr bwMode="auto">
          <a:xfrm>
            <a:off x="4779401" y="2356104"/>
            <a:ext cx="648072" cy="40011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2443E5A-7C2A-467C-8ED4-FF2CC8E5C414}"/>
              </a:ext>
            </a:extLst>
          </p:cNvPr>
          <p:cNvSpPr>
            <a:spLocks noChangeAspect="1"/>
          </p:cNvSpPr>
          <p:nvPr/>
        </p:nvSpPr>
        <p:spPr bwMode="auto">
          <a:xfrm>
            <a:off x="5961112" y="3429000"/>
            <a:ext cx="1008112" cy="1008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2836EA-5DB8-4602-832D-1C84A3CF3644}"/>
              </a:ext>
            </a:extLst>
          </p:cNvPr>
          <p:cNvSpPr txBox="1"/>
          <p:nvPr/>
        </p:nvSpPr>
        <p:spPr>
          <a:xfrm>
            <a:off x="6105128" y="3421337"/>
            <a:ext cx="7200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latin typeface="+mn-lt"/>
              </a:rPr>
              <a:t>+</a:t>
            </a:r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59D1A018-EAFD-49FD-ACA5-971709CB8463}"/>
              </a:ext>
            </a:extLst>
          </p:cNvPr>
          <p:cNvSpPr/>
          <p:nvPr/>
        </p:nvSpPr>
        <p:spPr bwMode="auto">
          <a:xfrm rot="19789433">
            <a:off x="5906417" y="2790791"/>
            <a:ext cx="288032" cy="74846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CD0BB714-755F-4DE7-94C2-973A3D04BFFA}"/>
              </a:ext>
            </a:extLst>
          </p:cNvPr>
          <p:cNvSpPr/>
          <p:nvPr/>
        </p:nvSpPr>
        <p:spPr bwMode="auto">
          <a:xfrm>
            <a:off x="6969224" y="3909571"/>
            <a:ext cx="694522" cy="28803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8B721FB-4433-4050-9EDF-A33BC7E562DE}"/>
              </a:ext>
            </a:extLst>
          </p:cNvPr>
          <p:cNvSpPr txBox="1"/>
          <p:nvPr/>
        </p:nvSpPr>
        <p:spPr>
          <a:xfrm>
            <a:off x="7684012" y="3437139"/>
            <a:ext cx="115742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1-bit shifter</a:t>
            </a:r>
          </a:p>
        </p:txBody>
      </p:sp>
      <p:sp>
        <p:nvSpPr>
          <p:cNvPr id="75" name="Arrow: Down 74">
            <a:extLst>
              <a:ext uri="{FF2B5EF4-FFF2-40B4-BE49-F238E27FC236}">
                <a16:creationId xmlns:a16="http://schemas.microsoft.com/office/drawing/2014/main" id="{C601BB20-B733-4AF1-8962-4AF096FC9EC8}"/>
              </a:ext>
            </a:extLst>
          </p:cNvPr>
          <p:cNvSpPr/>
          <p:nvPr/>
        </p:nvSpPr>
        <p:spPr bwMode="auto">
          <a:xfrm rot="5400000">
            <a:off x="7118997" y="3193208"/>
            <a:ext cx="288032" cy="81654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A6E790B7-07A9-48CF-8361-35525A42DB86}"/>
              </a:ext>
            </a:extLst>
          </p:cNvPr>
          <p:cNvSpPr/>
          <p:nvPr/>
        </p:nvSpPr>
        <p:spPr bwMode="auto">
          <a:xfrm>
            <a:off x="6333931" y="4437000"/>
            <a:ext cx="288032" cy="74846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FFE592F-C652-48B4-B62F-82EE71925017}"/>
              </a:ext>
            </a:extLst>
          </p:cNvPr>
          <p:cNvSpPr txBox="1"/>
          <p:nvPr/>
        </p:nvSpPr>
        <p:spPr>
          <a:xfrm>
            <a:off x="5708507" y="5174989"/>
            <a:ext cx="1681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Result out</a:t>
            </a:r>
          </a:p>
        </p:txBody>
      </p:sp>
    </p:spTree>
    <p:extLst>
      <p:ext uri="{BB962C8B-B14F-4D97-AF65-F5344CB8AC3E}">
        <p14:creationId xmlns:p14="http://schemas.microsoft.com/office/powerpoint/2010/main" val="4191007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952FEA-E493-4B67-863B-FB39CAE1EDB6}" type="datetime1">
              <a:rPr lang="en-GB"/>
              <a:pPr>
                <a:defRPr/>
              </a:pPr>
              <a:t>30/01/2022</a:t>
            </a:fld>
            <a:endParaRPr lang="en-GB"/>
          </a:p>
        </p:txBody>
      </p:sp>
      <p:sp>
        <p:nvSpPr>
          <p:cNvPr id="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6A9A09-7E24-48D3-806C-40EA1D18E6E9}" type="slidenum">
              <a:rPr lang="en-GB"/>
              <a:pPr>
                <a:defRPr/>
              </a:pPr>
              <a:t>13</a:t>
            </a:fld>
            <a:endParaRPr lang="en-GB" dirty="0"/>
          </a:p>
        </p:txBody>
      </p:sp>
      <p:sp>
        <p:nvSpPr>
          <p:cNvPr id="97365" name="Rectangle 85"/>
          <p:cNvSpPr>
            <a:spLocks noGrp="1" noChangeArrowheads="1"/>
          </p:cNvSpPr>
          <p:nvPr>
            <p:ph type="title"/>
          </p:nvPr>
        </p:nvSpPr>
        <p:spPr>
          <a:xfrm>
            <a:off x="439738" y="642938"/>
            <a:ext cx="7467600" cy="914400"/>
          </a:xfrm>
        </p:spPr>
        <p:txBody>
          <a:bodyPr lIns="91440" tIns="45720" rIns="91440" bIns="45720"/>
          <a:lstStyle/>
          <a:p>
            <a:pPr>
              <a:defRPr/>
            </a:pPr>
            <a:r>
              <a:rPr lang="en-GB" dirty="0"/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4EF6C-9B55-4978-BE81-F5632C995F10}"/>
              </a:ext>
            </a:extLst>
          </p:cNvPr>
          <p:cNvSpPr txBox="1"/>
          <p:nvPr/>
        </p:nvSpPr>
        <p:spPr>
          <a:xfrm>
            <a:off x="560512" y="135742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+mn-lt"/>
              </a:rPr>
              <a:t>Parallel implementation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DA2214-4114-43F1-BC53-E7B9A2C27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16" y="1825743"/>
            <a:ext cx="7689304" cy="42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10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False"/>
  <p:tag name="BRANCHTO" val="0"/>
</p:tagLst>
</file>

<file path=ppt/theme/theme1.xml><?xml version="1.0" encoding="utf-8"?>
<a:theme xmlns:a="http://schemas.openxmlformats.org/drawingml/2006/main" name="esdl">
  <a:themeElements>
    <a:clrScheme name="esd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d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esd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d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d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d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d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d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d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sdl">
  <a:themeElements>
    <a:clrScheme name="1_esd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esd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esd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sd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sd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sd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sd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sd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sd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esdl</Template>
  <TotalTime>6058</TotalTime>
  <Words>1162</Words>
  <Application>Microsoft Office PowerPoint</Application>
  <PresentationFormat>A4 Paper (210x297 mm)</PresentationFormat>
  <Paragraphs>243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Cambria Math</vt:lpstr>
      <vt:lpstr>Times New Roman</vt:lpstr>
      <vt:lpstr>Univers</vt:lpstr>
      <vt:lpstr>esdl</vt:lpstr>
      <vt:lpstr>1_esdl</vt:lpstr>
      <vt:lpstr>CorelDRAW</vt:lpstr>
      <vt:lpstr>FIR filter and Distributed Arithmetic</vt:lpstr>
      <vt:lpstr>Multiply-Accumulate is a common function</vt:lpstr>
      <vt:lpstr>FIR filter</vt:lpstr>
      <vt:lpstr>FIR filter</vt:lpstr>
      <vt:lpstr>Distributed Arithmetic (DA)</vt:lpstr>
      <vt:lpstr>Distributed Arithmetic (DA)</vt:lpstr>
      <vt:lpstr>Distributed Arithmetic (DA)</vt:lpstr>
      <vt:lpstr>Distributed Arithmetic (DA)</vt:lpstr>
      <vt:lpstr>Distributed Arithmetic (DA)</vt:lpstr>
      <vt:lpstr>Distributed Arithmetic (DA)</vt:lpstr>
      <vt:lpstr>Implementation</vt:lpstr>
      <vt:lpstr>Implementation</vt:lpstr>
      <vt:lpstr>Implementation</vt:lpstr>
    </vt:vector>
  </TitlesOfParts>
  <Company>University of Southampton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ESD Lectureship Presentation</dc:title>
  <dc:creator>Peter Wilson</dc:creator>
  <cp:lastModifiedBy>Koushik Maharatna</cp:lastModifiedBy>
  <cp:revision>230</cp:revision>
  <cp:lastPrinted>1601-01-01T00:00:00Z</cp:lastPrinted>
  <dcterms:created xsi:type="dcterms:W3CDTF">2002-05-22T08:52:25Z</dcterms:created>
  <dcterms:modified xsi:type="dcterms:W3CDTF">2022-01-30T11:31:21Z</dcterms:modified>
</cp:coreProperties>
</file>